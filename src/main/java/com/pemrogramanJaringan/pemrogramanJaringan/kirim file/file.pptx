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9" r:id="rId13"/>
    <p:sldId id="267" r:id="rId14"/>
  </p:sldIdLst>
  <p:sldSz cx="18288000" cy="10287000"/>
  <p:notesSz cx="6858000" cy="9144000"/>
  <p:embeddedFontLst>
    <p:embeddedFont>
      <p:font typeface="Agrandir Bold" panose="020B0604020202020204" charset="0"/>
      <p:regular r:id="rId15"/>
    </p:embeddedFont>
    <p:embeddedFont>
      <p:font typeface="DM Sans" pitchFamily="2" charset="0"/>
      <p:regular r:id="rId16"/>
      <p:bold r:id="rId17"/>
      <p:italic r:id="rId18"/>
      <p:boldItalic r:id="rId19"/>
    </p:embeddedFont>
    <p:embeddedFont>
      <p:font typeface="DM Sans Bold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53" y="71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F2A796-C854-4D09-8F62-E9530692D7CA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D"/>
        </a:p>
      </dgm:t>
    </dgm:pt>
    <dgm:pt modelId="{DD9228D4-8979-448E-9A30-061D321B62B4}">
      <dgm:prSet phldrT="[Text]" phldr="0"/>
      <dgm:spPr/>
      <dgm:t>
        <a:bodyPr/>
        <a:lstStyle/>
        <a:p>
          <a:r>
            <a:rPr lang="en-US" dirty="0">
              <a:latin typeface="DM Sans" pitchFamily="2" charset="0"/>
            </a:rPr>
            <a:t>Tujuan Utama </a:t>
          </a:r>
          <a:endParaRPr lang="en-ID" dirty="0">
            <a:latin typeface="DM Sans" pitchFamily="2" charset="0"/>
          </a:endParaRPr>
        </a:p>
      </dgm:t>
    </dgm:pt>
    <dgm:pt modelId="{84F8374E-457D-4F7D-9E70-2A3C89BD1D54}" type="parTrans" cxnId="{C96AE792-8E77-4F64-9299-824A2FB1B04D}">
      <dgm:prSet/>
      <dgm:spPr/>
      <dgm:t>
        <a:bodyPr/>
        <a:lstStyle/>
        <a:p>
          <a:endParaRPr lang="en-ID"/>
        </a:p>
      </dgm:t>
    </dgm:pt>
    <dgm:pt modelId="{3019A235-71E5-417D-86D8-FAB28F93B350}" type="sibTrans" cxnId="{C96AE792-8E77-4F64-9299-824A2FB1B04D}">
      <dgm:prSet/>
      <dgm:spPr/>
      <dgm:t>
        <a:bodyPr/>
        <a:lstStyle/>
        <a:p>
          <a:endParaRPr lang="en-ID"/>
        </a:p>
      </dgm:t>
    </dgm:pt>
    <dgm:pt modelId="{C9364E1A-AD41-4288-A15E-BB3C72AA045D}">
      <dgm:prSet phldrT="[Text]" phldr="0"/>
      <dgm:spPr/>
      <dgm:t>
        <a:bodyPr/>
        <a:lstStyle/>
        <a:p>
          <a:r>
            <a:rPr lang="en-US" dirty="0" err="1">
              <a:latin typeface="DM Sans" pitchFamily="2" charset="0"/>
            </a:rPr>
            <a:t>Cakupan</a:t>
          </a:r>
          <a:r>
            <a:rPr lang="en-US" dirty="0">
              <a:latin typeface="DM Sans" pitchFamily="2" charset="0"/>
            </a:rPr>
            <a:t> (Scope)</a:t>
          </a:r>
          <a:endParaRPr lang="en-ID" dirty="0">
            <a:latin typeface="DM Sans" pitchFamily="2" charset="0"/>
          </a:endParaRPr>
        </a:p>
      </dgm:t>
    </dgm:pt>
    <dgm:pt modelId="{FFE52455-7A64-474A-BFE3-1084C62295B4}" type="parTrans" cxnId="{B5F61511-2190-44AE-88FB-434E127F93E8}">
      <dgm:prSet/>
      <dgm:spPr/>
      <dgm:t>
        <a:bodyPr/>
        <a:lstStyle/>
        <a:p>
          <a:endParaRPr lang="en-ID"/>
        </a:p>
      </dgm:t>
    </dgm:pt>
    <dgm:pt modelId="{764FAB14-E21F-432E-B3B2-E1772D9A91ED}" type="sibTrans" cxnId="{B5F61511-2190-44AE-88FB-434E127F93E8}">
      <dgm:prSet/>
      <dgm:spPr/>
      <dgm:t>
        <a:bodyPr/>
        <a:lstStyle/>
        <a:p>
          <a:endParaRPr lang="en-ID"/>
        </a:p>
      </dgm:t>
    </dgm:pt>
    <dgm:pt modelId="{0B115886-FA37-41A1-96FC-718D359A0B61}">
      <dgm:prSet phldrT="[Text]" phldr="0"/>
      <dgm:spPr/>
      <dgm:t>
        <a:bodyPr/>
        <a:lstStyle/>
        <a:p>
          <a:r>
            <a:rPr lang="en-US" dirty="0">
              <a:latin typeface="DM Sans" pitchFamily="2" charset="0"/>
            </a:rPr>
            <a:t>Manfaat</a:t>
          </a:r>
          <a:endParaRPr lang="en-ID" dirty="0">
            <a:latin typeface="DM Sans" pitchFamily="2" charset="0"/>
          </a:endParaRPr>
        </a:p>
      </dgm:t>
    </dgm:pt>
    <dgm:pt modelId="{9C840DD9-4574-4C63-B68D-C7475086D8FB}" type="parTrans" cxnId="{B27DACE2-00A2-4EA4-90B8-9E5710AEC4E6}">
      <dgm:prSet/>
      <dgm:spPr/>
      <dgm:t>
        <a:bodyPr/>
        <a:lstStyle/>
        <a:p>
          <a:endParaRPr lang="en-ID"/>
        </a:p>
      </dgm:t>
    </dgm:pt>
    <dgm:pt modelId="{17B54303-E0B4-4003-A34D-6EC72C5190A5}" type="sibTrans" cxnId="{B27DACE2-00A2-4EA4-90B8-9E5710AEC4E6}">
      <dgm:prSet/>
      <dgm:spPr/>
      <dgm:t>
        <a:bodyPr/>
        <a:lstStyle/>
        <a:p>
          <a:endParaRPr lang="en-ID"/>
        </a:p>
      </dgm:t>
    </dgm:pt>
    <dgm:pt modelId="{2CD4A145-A4AD-42DD-A7B3-32D757D1D68B}" type="pres">
      <dgm:prSet presAssocID="{51F2A796-C854-4D09-8F62-E9530692D7CA}" presName="Name0" presStyleCnt="0">
        <dgm:presLayoutVars>
          <dgm:dir/>
          <dgm:resizeHandles val="exact"/>
        </dgm:presLayoutVars>
      </dgm:prSet>
      <dgm:spPr/>
    </dgm:pt>
    <dgm:pt modelId="{3EE634A6-F8BE-43C6-A19F-1749C91F3E05}" type="pres">
      <dgm:prSet presAssocID="{DD9228D4-8979-448E-9A30-061D321B62B4}" presName="node" presStyleLbl="node1" presStyleIdx="0" presStyleCnt="3">
        <dgm:presLayoutVars>
          <dgm:bulletEnabled val="1"/>
        </dgm:presLayoutVars>
      </dgm:prSet>
      <dgm:spPr/>
    </dgm:pt>
    <dgm:pt modelId="{7DD77292-3EA3-4001-805B-22EE2250A167}" type="pres">
      <dgm:prSet presAssocID="{3019A235-71E5-417D-86D8-FAB28F93B350}" presName="sibTrans" presStyleLbl="sibTrans2D1" presStyleIdx="0" presStyleCnt="2"/>
      <dgm:spPr/>
    </dgm:pt>
    <dgm:pt modelId="{743CD945-E585-49CC-9242-EFF01B0ED245}" type="pres">
      <dgm:prSet presAssocID="{3019A235-71E5-417D-86D8-FAB28F93B350}" presName="connectorText" presStyleLbl="sibTrans2D1" presStyleIdx="0" presStyleCnt="2"/>
      <dgm:spPr/>
    </dgm:pt>
    <dgm:pt modelId="{23AD35AE-3D9B-4B49-9189-1DE293BF2818}" type="pres">
      <dgm:prSet presAssocID="{C9364E1A-AD41-4288-A15E-BB3C72AA045D}" presName="node" presStyleLbl="node1" presStyleIdx="1" presStyleCnt="3">
        <dgm:presLayoutVars>
          <dgm:bulletEnabled val="1"/>
        </dgm:presLayoutVars>
      </dgm:prSet>
      <dgm:spPr/>
    </dgm:pt>
    <dgm:pt modelId="{F5570A60-D021-4D34-A1A6-1132300BB754}" type="pres">
      <dgm:prSet presAssocID="{764FAB14-E21F-432E-B3B2-E1772D9A91ED}" presName="sibTrans" presStyleLbl="sibTrans2D1" presStyleIdx="1" presStyleCnt="2"/>
      <dgm:spPr/>
    </dgm:pt>
    <dgm:pt modelId="{47621BA7-5F15-416E-9134-FCC050EF00C2}" type="pres">
      <dgm:prSet presAssocID="{764FAB14-E21F-432E-B3B2-E1772D9A91ED}" presName="connectorText" presStyleLbl="sibTrans2D1" presStyleIdx="1" presStyleCnt="2"/>
      <dgm:spPr/>
    </dgm:pt>
    <dgm:pt modelId="{6DBB9915-41A7-4B3A-BB25-0D7C4D87E5B5}" type="pres">
      <dgm:prSet presAssocID="{0B115886-FA37-41A1-96FC-718D359A0B61}" presName="node" presStyleLbl="node1" presStyleIdx="2" presStyleCnt="3">
        <dgm:presLayoutVars>
          <dgm:bulletEnabled val="1"/>
        </dgm:presLayoutVars>
      </dgm:prSet>
      <dgm:spPr/>
    </dgm:pt>
  </dgm:ptLst>
  <dgm:cxnLst>
    <dgm:cxn modelId="{F6B23202-330F-477A-98D4-54AA7CFD9720}" type="presOf" srcId="{3019A235-71E5-417D-86D8-FAB28F93B350}" destId="{743CD945-E585-49CC-9242-EFF01B0ED245}" srcOrd="1" destOrd="0" presId="urn:microsoft.com/office/officeart/2005/8/layout/process1"/>
    <dgm:cxn modelId="{A73A9B06-AD3E-4A87-8D9E-55082C9D09CD}" type="presOf" srcId="{51F2A796-C854-4D09-8F62-E9530692D7CA}" destId="{2CD4A145-A4AD-42DD-A7B3-32D757D1D68B}" srcOrd="0" destOrd="0" presId="urn:microsoft.com/office/officeart/2005/8/layout/process1"/>
    <dgm:cxn modelId="{50265D0B-C7D1-4FF7-B826-A7C336BDC1D8}" type="presOf" srcId="{0B115886-FA37-41A1-96FC-718D359A0B61}" destId="{6DBB9915-41A7-4B3A-BB25-0D7C4D87E5B5}" srcOrd="0" destOrd="0" presId="urn:microsoft.com/office/officeart/2005/8/layout/process1"/>
    <dgm:cxn modelId="{B5F61511-2190-44AE-88FB-434E127F93E8}" srcId="{51F2A796-C854-4D09-8F62-E9530692D7CA}" destId="{C9364E1A-AD41-4288-A15E-BB3C72AA045D}" srcOrd="1" destOrd="0" parTransId="{FFE52455-7A64-474A-BFE3-1084C62295B4}" sibTransId="{764FAB14-E21F-432E-B3B2-E1772D9A91ED}"/>
    <dgm:cxn modelId="{942CC746-8F25-425A-BB3A-B84A899455B9}" type="presOf" srcId="{764FAB14-E21F-432E-B3B2-E1772D9A91ED}" destId="{47621BA7-5F15-416E-9134-FCC050EF00C2}" srcOrd="1" destOrd="0" presId="urn:microsoft.com/office/officeart/2005/8/layout/process1"/>
    <dgm:cxn modelId="{49C3FA6E-1801-474E-B80A-CA3132234967}" type="presOf" srcId="{764FAB14-E21F-432E-B3B2-E1772D9A91ED}" destId="{F5570A60-D021-4D34-A1A6-1132300BB754}" srcOrd="0" destOrd="0" presId="urn:microsoft.com/office/officeart/2005/8/layout/process1"/>
    <dgm:cxn modelId="{C96AE792-8E77-4F64-9299-824A2FB1B04D}" srcId="{51F2A796-C854-4D09-8F62-E9530692D7CA}" destId="{DD9228D4-8979-448E-9A30-061D321B62B4}" srcOrd="0" destOrd="0" parTransId="{84F8374E-457D-4F7D-9E70-2A3C89BD1D54}" sibTransId="{3019A235-71E5-417D-86D8-FAB28F93B350}"/>
    <dgm:cxn modelId="{981A0B9B-3EA3-4855-90CA-28BC4D453825}" type="presOf" srcId="{C9364E1A-AD41-4288-A15E-BB3C72AA045D}" destId="{23AD35AE-3D9B-4B49-9189-1DE293BF2818}" srcOrd="0" destOrd="0" presId="urn:microsoft.com/office/officeart/2005/8/layout/process1"/>
    <dgm:cxn modelId="{8A17D7AF-15FA-4AEF-9263-A456327BDEC8}" type="presOf" srcId="{DD9228D4-8979-448E-9A30-061D321B62B4}" destId="{3EE634A6-F8BE-43C6-A19F-1749C91F3E05}" srcOrd="0" destOrd="0" presId="urn:microsoft.com/office/officeart/2005/8/layout/process1"/>
    <dgm:cxn modelId="{B27DACE2-00A2-4EA4-90B8-9E5710AEC4E6}" srcId="{51F2A796-C854-4D09-8F62-E9530692D7CA}" destId="{0B115886-FA37-41A1-96FC-718D359A0B61}" srcOrd="2" destOrd="0" parTransId="{9C840DD9-4574-4C63-B68D-C7475086D8FB}" sibTransId="{17B54303-E0B4-4003-A34D-6EC72C5190A5}"/>
    <dgm:cxn modelId="{013B33F0-AFB0-4DB9-81FE-8A0C9A65D6A7}" type="presOf" srcId="{3019A235-71E5-417D-86D8-FAB28F93B350}" destId="{7DD77292-3EA3-4001-805B-22EE2250A167}" srcOrd="0" destOrd="0" presId="urn:microsoft.com/office/officeart/2005/8/layout/process1"/>
    <dgm:cxn modelId="{B02BF1C4-557B-4CDB-88A5-BC5436BDA929}" type="presParOf" srcId="{2CD4A145-A4AD-42DD-A7B3-32D757D1D68B}" destId="{3EE634A6-F8BE-43C6-A19F-1749C91F3E05}" srcOrd="0" destOrd="0" presId="urn:microsoft.com/office/officeart/2005/8/layout/process1"/>
    <dgm:cxn modelId="{31756E18-09EC-4B2D-B898-9A57EF0B326A}" type="presParOf" srcId="{2CD4A145-A4AD-42DD-A7B3-32D757D1D68B}" destId="{7DD77292-3EA3-4001-805B-22EE2250A167}" srcOrd="1" destOrd="0" presId="urn:microsoft.com/office/officeart/2005/8/layout/process1"/>
    <dgm:cxn modelId="{F1DE6637-3374-41C1-8530-640366ED4FF5}" type="presParOf" srcId="{7DD77292-3EA3-4001-805B-22EE2250A167}" destId="{743CD945-E585-49CC-9242-EFF01B0ED245}" srcOrd="0" destOrd="0" presId="urn:microsoft.com/office/officeart/2005/8/layout/process1"/>
    <dgm:cxn modelId="{12ADBF7B-BA66-4B7A-BC39-4EF2D85F340B}" type="presParOf" srcId="{2CD4A145-A4AD-42DD-A7B3-32D757D1D68B}" destId="{23AD35AE-3D9B-4B49-9189-1DE293BF2818}" srcOrd="2" destOrd="0" presId="urn:microsoft.com/office/officeart/2005/8/layout/process1"/>
    <dgm:cxn modelId="{F8212B8C-B2D5-4723-91AD-07D7DAFB5908}" type="presParOf" srcId="{2CD4A145-A4AD-42DD-A7B3-32D757D1D68B}" destId="{F5570A60-D021-4D34-A1A6-1132300BB754}" srcOrd="3" destOrd="0" presId="urn:microsoft.com/office/officeart/2005/8/layout/process1"/>
    <dgm:cxn modelId="{280CB793-ACD4-4D6B-A2FF-43636A94E2F9}" type="presParOf" srcId="{F5570A60-D021-4D34-A1A6-1132300BB754}" destId="{47621BA7-5F15-416E-9134-FCC050EF00C2}" srcOrd="0" destOrd="0" presId="urn:microsoft.com/office/officeart/2005/8/layout/process1"/>
    <dgm:cxn modelId="{1ED5F3E2-25C1-4F08-97D3-AC83376C26B9}" type="presParOf" srcId="{2CD4A145-A4AD-42DD-A7B3-32D757D1D68B}" destId="{6DBB9915-41A7-4B3A-BB25-0D7C4D87E5B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DFDC54-A319-4EB1-B3D5-6A89833A7C92}" type="doc">
      <dgm:prSet loTypeId="urn:microsoft.com/office/officeart/2005/8/layout/chart3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D"/>
        </a:p>
      </dgm:t>
    </dgm:pt>
    <dgm:pt modelId="{34A7746A-8D29-4CFC-A4F7-8A189C980302}">
      <dgm:prSet phldrT="[Text]" phldr="0"/>
      <dgm:spPr/>
      <dgm:t>
        <a:bodyPr/>
        <a:lstStyle/>
        <a:p>
          <a:r>
            <a:rPr lang="en-US" dirty="0"/>
            <a:t>Tetap pada </a:t>
          </a:r>
          <a:r>
            <a:rPr lang="en-US" dirty="0" err="1"/>
            <a:t>anggaran</a:t>
          </a:r>
          <a:endParaRPr lang="en-ID" dirty="0"/>
        </a:p>
      </dgm:t>
    </dgm:pt>
    <dgm:pt modelId="{108A40CD-E631-46CB-B3E6-DA0F4D255ACD}" type="parTrans" cxnId="{CD3F8156-7DEE-4F51-84D3-A76C93F4D7C3}">
      <dgm:prSet/>
      <dgm:spPr/>
      <dgm:t>
        <a:bodyPr/>
        <a:lstStyle/>
        <a:p>
          <a:endParaRPr lang="en-ID"/>
        </a:p>
      </dgm:t>
    </dgm:pt>
    <dgm:pt modelId="{B87BA41A-5D6D-4A08-B01D-874E617BD880}" type="sibTrans" cxnId="{CD3F8156-7DEE-4F51-84D3-A76C93F4D7C3}">
      <dgm:prSet/>
      <dgm:spPr/>
      <dgm:t>
        <a:bodyPr/>
        <a:lstStyle/>
        <a:p>
          <a:endParaRPr lang="en-ID"/>
        </a:p>
      </dgm:t>
    </dgm:pt>
    <dgm:pt modelId="{723D14DE-58CE-4F14-8D00-586531040A5B}">
      <dgm:prSet phldrT="[Text]" phldr="0"/>
      <dgm:spPr/>
      <dgm:t>
        <a:bodyPr/>
        <a:lstStyle/>
        <a:p>
          <a:r>
            <a:rPr lang="en-US" dirty="0"/>
            <a:t>Jaga </a:t>
          </a:r>
          <a:r>
            <a:rPr lang="en-US" dirty="0" err="1"/>
            <a:t>Kualitas</a:t>
          </a:r>
          <a:endParaRPr lang="en-ID" dirty="0"/>
        </a:p>
      </dgm:t>
    </dgm:pt>
    <dgm:pt modelId="{30BFD621-668C-4BE9-B8B8-F87EEA60A690}" type="parTrans" cxnId="{E4CA1E65-9E3D-405B-8046-4129FAB672D0}">
      <dgm:prSet/>
      <dgm:spPr/>
      <dgm:t>
        <a:bodyPr/>
        <a:lstStyle/>
        <a:p>
          <a:endParaRPr lang="en-ID"/>
        </a:p>
      </dgm:t>
    </dgm:pt>
    <dgm:pt modelId="{97C1B3AE-E516-43D7-AC45-28A73A14B429}" type="sibTrans" cxnId="{E4CA1E65-9E3D-405B-8046-4129FAB672D0}">
      <dgm:prSet/>
      <dgm:spPr/>
      <dgm:t>
        <a:bodyPr/>
        <a:lstStyle/>
        <a:p>
          <a:endParaRPr lang="en-ID"/>
        </a:p>
      </dgm:t>
    </dgm:pt>
    <dgm:pt modelId="{31B2350C-428B-4289-81E6-A1E55BA844C4}">
      <dgm:prSet phldrT="[Text]" phldr="0"/>
      <dgm:spPr/>
      <dgm:t>
        <a:bodyPr/>
        <a:lstStyle/>
        <a:p>
          <a:r>
            <a:rPr lang="en-US" dirty="0" err="1"/>
            <a:t>Selesai</a:t>
          </a:r>
          <a:r>
            <a:rPr lang="en-US" dirty="0"/>
            <a:t> Tepat Waktu </a:t>
          </a:r>
          <a:endParaRPr lang="en-ID" dirty="0"/>
        </a:p>
      </dgm:t>
    </dgm:pt>
    <dgm:pt modelId="{58F78301-4F16-40A0-BEBC-98437A8B0519}" type="parTrans" cxnId="{5A0233E6-828F-43E1-8EA4-A83E5253A03D}">
      <dgm:prSet/>
      <dgm:spPr/>
      <dgm:t>
        <a:bodyPr/>
        <a:lstStyle/>
        <a:p>
          <a:endParaRPr lang="en-ID"/>
        </a:p>
      </dgm:t>
    </dgm:pt>
    <dgm:pt modelId="{42410B46-DD6E-4385-B0D8-32DC7639AEB3}" type="sibTrans" cxnId="{5A0233E6-828F-43E1-8EA4-A83E5253A03D}">
      <dgm:prSet/>
      <dgm:spPr/>
      <dgm:t>
        <a:bodyPr/>
        <a:lstStyle/>
        <a:p>
          <a:endParaRPr lang="en-ID"/>
        </a:p>
      </dgm:t>
    </dgm:pt>
    <dgm:pt modelId="{C97DE061-276F-4218-93AA-4CCBA1005B66}" type="pres">
      <dgm:prSet presAssocID="{85DFDC54-A319-4EB1-B3D5-6A89833A7C92}" presName="compositeShape" presStyleCnt="0">
        <dgm:presLayoutVars>
          <dgm:chMax val="7"/>
          <dgm:dir/>
          <dgm:resizeHandles val="exact"/>
        </dgm:presLayoutVars>
      </dgm:prSet>
      <dgm:spPr/>
    </dgm:pt>
    <dgm:pt modelId="{129600A2-40CA-43CE-83AF-26D4414096F4}" type="pres">
      <dgm:prSet presAssocID="{85DFDC54-A319-4EB1-B3D5-6A89833A7C92}" presName="wedge1" presStyleLbl="node1" presStyleIdx="0" presStyleCnt="3"/>
      <dgm:spPr/>
    </dgm:pt>
    <dgm:pt modelId="{AC9DD020-FBD3-410D-8162-2E9150092A23}" type="pres">
      <dgm:prSet presAssocID="{85DFDC54-A319-4EB1-B3D5-6A89833A7C92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6C6C447B-34F9-4708-852F-279FE3AD3806}" type="pres">
      <dgm:prSet presAssocID="{85DFDC54-A319-4EB1-B3D5-6A89833A7C92}" presName="wedge2" presStyleLbl="node1" presStyleIdx="1" presStyleCnt="3"/>
      <dgm:spPr/>
    </dgm:pt>
    <dgm:pt modelId="{D2A8DE6C-4D39-4C22-97A5-1C05E2061202}" type="pres">
      <dgm:prSet presAssocID="{85DFDC54-A319-4EB1-B3D5-6A89833A7C92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DDA3D36-16F3-4287-9188-FADA11E2EAE5}" type="pres">
      <dgm:prSet presAssocID="{85DFDC54-A319-4EB1-B3D5-6A89833A7C92}" presName="wedge3" presStyleLbl="node1" presStyleIdx="2" presStyleCnt="3"/>
      <dgm:spPr/>
    </dgm:pt>
    <dgm:pt modelId="{C891C5B3-B0FC-4E84-869B-4BBD9523AE23}" type="pres">
      <dgm:prSet presAssocID="{85DFDC54-A319-4EB1-B3D5-6A89833A7C92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8F7FB004-E884-4247-9442-40615B98CB43}" type="presOf" srcId="{34A7746A-8D29-4CFC-A4F7-8A189C980302}" destId="{129600A2-40CA-43CE-83AF-26D4414096F4}" srcOrd="0" destOrd="0" presId="urn:microsoft.com/office/officeart/2005/8/layout/chart3"/>
    <dgm:cxn modelId="{ED5DC425-C449-4329-9C6A-FC6E9F9F5B22}" type="presOf" srcId="{723D14DE-58CE-4F14-8D00-586531040A5B}" destId="{6C6C447B-34F9-4708-852F-279FE3AD3806}" srcOrd="0" destOrd="0" presId="urn:microsoft.com/office/officeart/2005/8/layout/chart3"/>
    <dgm:cxn modelId="{CDAC432F-B17E-4C41-A1B1-7561FBB926BB}" type="presOf" srcId="{34A7746A-8D29-4CFC-A4F7-8A189C980302}" destId="{AC9DD020-FBD3-410D-8162-2E9150092A23}" srcOrd="1" destOrd="0" presId="urn:microsoft.com/office/officeart/2005/8/layout/chart3"/>
    <dgm:cxn modelId="{FF389534-9ED7-4763-8BCE-58F0B0E338CB}" type="presOf" srcId="{31B2350C-428B-4289-81E6-A1E55BA844C4}" destId="{C891C5B3-B0FC-4E84-869B-4BBD9523AE23}" srcOrd="1" destOrd="0" presId="urn:microsoft.com/office/officeart/2005/8/layout/chart3"/>
    <dgm:cxn modelId="{E4CA1E65-9E3D-405B-8046-4129FAB672D0}" srcId="{85DFDC54-A319-4EB1-B3D5-6A89833A7C92}" destId="{723D14DE-58CE-4F14-8D00-586531040A5B}" srcOrd="1" destOrd="0" parTransId="{30BFD621-668C-4BE9-B8B8-F87EEA60A690}" sibTransId="{97C1B3AE-E516-43D7-AC45-28A73A14B429}"/>
    <dgm:cxn modelId="{AB6BD654-F6A5-4909-AB29-FA7414500A47}" type="presOf" srcId="{85DFDC54-A319-4EB1-B3D5-6A89833A7C92}" destId="{C97DE061-276F-4218-93AA-4CCBA1005B66}" srcOrd="0" destOrd="0" presId="urn:microsoft.com/office/officeart/2005/8/layout/chart3"/>
    <dgm:cxn modelId="{CD3F8156-7DEE-4F51-84D3-A76C93F4D7C3}" srcId="{85DFDC54-A319-4EB1-B3D5-6A89833A7C92}" destId="{34A7746A-8D29-4CFC-A4F7-8A189C980302}" srcOrd="0" destOrd="0" parTransId="{108A40CD-E631-46CB-B3E6-DA0F4D255ACD}" sibTransId="{B87BA41A-5D6D-4A08-B01D-874E617BD880}"/>
    <dgm:cxn modelId="{3038D484-C689-4A32-A91B-D53425AC85DD}" type="presOf" srcId="{723D14DE-58CE-4F14-8D00-586531040A5B}" destId="{D2A8DE6C-4D39-4C22-97A5-1C05E2061202}" srcOrd="1" destOrd="0" presId="urn:microsoft.com/office/officeart/2005/8/layout/chart3"/>
    <dgm:cxn modelId="{5A0233E6-828F-43E1-8EA4-A83E5253A03D}" srcId="{85DFDC54-A319-4EB1-B3D5-6A89833A7C92}" destId="{31B2350C-428B-4289-81E6-A1E55BA844C4}" srcOrd="2" destOrd="0" parTransId="{58F78301-4F16-40A0-BEBC-98437A8B0519}" sibTransId="{42410B46-DD6E-4385-B0D8-32DC7639AEB3}"/>
    <dgm:cxn modelId="{27D5ABF9-2F00-4270-AED8-D56C14003DFE}" type="presOf" srcId="{31B2350C-428B-4289-81E6-A1E55BA844C4}" destId="{9DDA3D36-16F3-4287-9188-FADA11E2EAE5}" srcOrd="0" destOrd="0" presId="urn:microsoft.com/office/officeart/2005/8/layout/chart3"/>
    <dgm:cxn modelId="{B5F23EE4-D223-4700-A6E5-ACFBDD0B63C2}" type="presParOf" srcId="{C97DE061-276F-4218-93AA-4CCBA1005B66}" destId="{129600A2-40CA-43CE-83AF-26D4414096F4}" srcOrd="0" destOrd="0" presId="urn:microsoft.com/office/officeart/2005/8/layout/chart3"/>
    <dgm:cxn modelId="{16BBB2A3-1CF0-4BE8-BEB8-6B784B0F0D8B}" type="presParOf" srcId="{C97DE061-276F-4218-93AA-4CCBA1005B66}" destId="{AC9DD020-FBD3-410D-8162-2E9150092A23}" srcOrd="1" destOrd="0" presId="urn:microsoft.com/office/officeart/2005/8/layout/chart3"/>
    <dgm:cxn modelId="{1E6B88D1-491B-4020-A73A-7AC743B5D5EC}" type="presParOf" srcId="{C97DE061-276F-4218-93AA-4CCBA1005B66}" destId="{6C6C447B-34F9-4708-852F-279FE3AD3806}" srcOrd="2" destOrd="0" presId="urn:microsoft.com/office/officeart/2005/8/layout/chart3"/>
    <dgm:cxn modelId="{41080B4F-CC98-48FD-A9A8-AD8653864C91}" type="presParOf" srcId="{C97DE061-276F-4218-93AA-4CCBA1005B66}" destId="{D2A8DE6C-4D39-4C22-97A5-1C05E2061202}" srcOrd="3" destOrd="0" presId="urn:microsoft.com/office/officeart/2005/8/layout/chart3"/>
    <dgm:cxn modelId="{63E07802-7AE4-4E81-B800-5E90FDDB4770}" type="presParOf" srcId="{C97DE061-276F-4218-93AA-4CCBA1005B66}" destId="{9DDA3D36-16F3-4287-9188-FADA11E2EAE5}" srcOrd="4" destOrd="0" presId="urn:microsoft.com/office/officeart/2005/8/layout/chart3"/>
    <dgm:cxn modelId="{560F0D88-FE5D-4D74-9806-298B9E3D2F70}" type="presParOf" srcId="{C97DE061-276F-4218-93AA-4CCBA1005B66}" destId="{C891C5B3-B0FC-4E84-869B-4BBD9523AE23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77F99F-AFD9-4A32-9330-E2B2AB6CCB14}" type="doc">
      <dgm:prSet loTypeId="urn:microsoft.com/office/officeart/2005/8/layout/pyramid1" loCatId="pyramid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D"/>
        </a:p>
      </dgm:t>
    </dgm:pt>
    <dgm:pt modelId="{9E7198A6-CDA6-457E-BB7A-8092FC5200D6}">
      <dgm:prSet phldrT="[Text]" phldr="0"/>
      <dgm:spPr/>
      <dgm:t>
        <a:bodyPr/>
        <a:lstStyle/>
        <a:p>
          <a:r>
            <a:rPr lang="en-US" dirty="0"/>
            <a:t>Scope </a:t>
          </a:r>
          <a:endParaRPr lang="en-ID" dirty="0"/>
        </a:p>
      </dgm:t>
    </dgm:pt>
    <dgm:pt modelId="{2C04C28B-B405-4609-A73A-14DE8EFA515D}" type="parTrans" cxnId="{D86679CA-5354-4B63-B991-B969AB1C2639}">
      <dgm:prSet/>
      <dgm:spPr/>
      <dgm:t>
        <a:bodyPr/>
        <a:lstStyle/>
        <a:p>
          <a:endParaRPr lang="en-ID"/>
        </a:p>
      </dgm:t>
    </dgm:pt>
    <dgm:pt modelId="{F00D5A48-75CC-4F84-9293-10D48933A939}" type="sibTrans" cxnId="{D86679CA-5354-4B63-B991-B969AB1C2639}">
      <dgm:prSet/>
      <dgm:spPr/>
      <dgm:t>
        <a:bodyPr/>
        <a:lstStyle/>
        <a:p>
          <a:endParaRPr lang="en-ID"/>
        </a:p>
      </dgm:t>
    </dgm:pt>
    <dgm:pt modelId="{173981E2-114F-4894-AD6C-3E124BDABFB6}">
      <dgm:prSet phldrT="[Text]" phldr="0"/>
      <dgm:spPr/>
      <dgm:t>
        <a:bodyPr/>
        <a:lstStyle/>
        <a:p>
          <a:r>
            <a:rPr lang="en-US" dirty="0"/>
            <a:t>Time </a:t>
          </a:r>
          <a:endParaRPr lang="en-ID" dirty="0"/>
        </a:p>
      </dgm:t>
    </dgm:pt>
    <dgm:pt modelId="{83060F51-1223-4FE2-A40A-6076BC699D8B}" type="parTrans" cxnId="{EFC9D11D-6F5E-4AE6-BFF7-D2EC011FEFA4}">
      <dgm:prSet/>
      <dgm:spPr/>
      <dgm:t>
        <a:bodyPr/>
        <a:lstStyle/>
        <a:p>
          <a:endParaRPr lang="en-ID"/>
        </a:p>
      </dgm:t>
    </dgm:pt>
    <dgm:pt modelId="{609374B8-3793-4650-AD0F-4864D9941884}" type="sibTrans" cxnId="{EFC9D11D-6F5E-4AE6-BFF7-D2EC011FEFA4}">
      <dgm:prSet/>
      <dgm:spPr/>
      <dgm:t>
        <a:bodyPr/>
        <a:lstStyle/>
        <a:p>
          <a:endParaRPr lang="en-ID"/>
        </a:p>
      </dgm:t>
    </dgm:pt>
    <dgm:pt modelId="{355E0B8E-3EB8-4FC7-BC23-7BF6B61A64D0}">
      <dgm:prSet phldrT="[Text]" phldr="0"/>
      <dgm:spPr/>
      <dgm:t>
        <a:bodyPr/>
        <a:lstStyle/>
        <a:p>
          <a:r>
            <a:rPr lang="en-US" dirty="0"/>
            <a:t>Cost</a:t>
          </a:r>
          <a:endParaRPr lang="en-ID" dirty="0"/>
        </a:p>
      </dgm:t>
    </dgm:pt>
    <dgm:pt modelId="{520B3ED7-4E70-402F-8A1C-2C9620B912CE}" type="parTrans" cxnId="{47AC6804-A42B-4966-B80E-6848142A8528}">
      <dgm:prSet/>
      <dgm:spPr/>
      <dgm:t>
        <a:bodyPr/>
        <a:lstStyle/>
        <a:p>
          <a:endParaRPr lang="en-ID"/>
        </a:p>
      </dgm:t>
    </dgm:pt>
    <dgm:pt modelId="{080B4F27-7E7A-465A-869C-3ED5BBA034D6}" type="sibTrans" cxnId="{47AC6804-A42B-4966-B80E-6848142A8528}">
      <dgm:prSet/>
      <dgm:spPr/>
      <dgm:t>
        <a:bodyPr/>
        <a:lstStyle/>
        <a:p>
          <a:endParaRPr lang="en-ID"/>
        </a:p>
      </dgm:t>
    </dgm:pt>
    <dgm:pt modelId="{67985AFF-02C5-4621-AB0F-9E58503B1F33}" type="pres">
      <dgm:prSet presAssocID="{3077F99F-AFD9-4A32-9330-E2B2AB6CCB14}" presName="Name0" presStyleCnt="0">
        <dgm:presLayoutVars>
          <dgm:dir/>
          <dgm:animLvl val="lvl"/>
          <dgm:resizeHandles val="exact"/>
        </dgm:presLayoutVars>
      </dgm:prSet>
      <dgm:spPr/>
    </dgm:pt>
    <dgm:pt modelId="{B0F13185-0131-4813-A516-23D1051E02CE}" type="pres">
      <dgm:prSet presAssocID="{9E7198A6-CDA6-457E-BB7A-8092FC5200D6}" presName="Name8" presStyleCnt="0"/>
      <dgm:spPr/>
    </dgm:pt>
    <dgm:pt modelId="{3ED24DCF-63A9-46BF-8EB4-5A8AB4B1875A}" type="pres">
      <dgm:prSet presAssocID="{9E7198A6-CDA6-457E-BB7A-8092FC5200D6}" presName="level" presStyleLbl="node1" presStyleIdx="0" presStyleCnt="3">
        <dgm:presLayoutVars>
          <dgm:chMax val="1"/>
          <dgm:bulletEnabled val="1"/>
        </dgm:presLayoutVars>
      </dgm:prSet>
      <dgm:spPr/>
    </dgm:pt>
    <dgm:pt modelId="{82B7C6C3-AC5B-48D0-B8EF-84EBB6022D8E}" type="pres">
      <dgm:prSet presAssocID="{9E7198A6-CDA6-457E-BB7A-8092FC5200D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E8D7731-A001-4F25-BE98-1B752525B503}" type="pres">
      <dgm:prSet presAssocID="{173981E2-114F-4894-AD6C-3E124BDABFB6}" presName="Name8" presStyleCnt="0"/>
      <dgm:spPr/>
    </dgm:pt>
    <dgm:pt modelId="{955D3275-4CEE-41C6-AF8A-AAFCF99A28C1}" type="pres">
      <dgm:prSet presAssocID="{173981E2-114F-4894-AD6C-3E124BDABFB6}" presName="level" presStyleLbl="node1" presStyleIdx="1" presStyleCnt="3">
        <dgm:presLayoutVars>
          <dgm:chMax val="1"/>
          <dgm:bulletEnabled val="1"/>
        </dgm:presLayoutVars>
      </dgm:prSet>
      <dgm:spPr/>
    </dgm:pt>
    <dgm:pt modelId="{4F7639F1-9D0C-41BE-ABA2-B3E98837C0D9}" type="pres">
      <dgm:prSet presAssocID="{173981E2-114F-4894-AD6C-3E124BDABFB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75CEA17D-6720-4CF6-B5B6-8D31FD31954C}" type="pres">
      <dgm:prSet presAssocID="{355E0B8E-3EB8-4FC7-BC23-7BF6B61A64D0}" presName="Name8" presStyleCnt="0"/>
      <dgm:spPr/>
    </dgm:pt>
    <dgm:pt modelId="{075E3244-2CA0-4A9F-BAF9-11628008E2D2}" type="pres">
      <dgm:prSet presAssocID="{355E0B8E-3EB8-4FC7-BC23-7BF6B61A64D0}" presName="level" presStyleLbl="node1" presStyleIdx="2" presStyleCnt="3">
        <dgm:presLayoutVars>
          <dgm:chMax val="1"/>
          <dgm:bulletEnabled val="1"/>
        </dgm:presLayoutVars>
      </dgm:prSet>
      <dgm:spPr/>
    </dgm:pt>
    <dgm:pt modelId="{FA5C41EA-682A-4EA9-9083-160850085767}" type="pres">
      <dgm:prSet presAssocID="{355E0B8E-3EB8-4FC7-BC23-7BF6B61A64D0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47AC6804-A42B-4966-B80E-6848142A8528}" srcId="{3077F99F-AFD9-4A32-9330-E2B2AB6CCB14}" destId="{355E0B8E-3EB8-4FC7-BC23-7BF6B61A64D0}" srcOrd="2" destOrd="0" parTransId="{520B3ED7-4E70-402F-8A1C-2C9620B912CE}" sibTransId="{080B4F27-7E7A-465A-869C-3ED5BBA034D6}"/>
    <dgm:cxn modelId="{1C9DCC04-27C5-43AD-BC69-71B21C4DD171}" type="presOf" srcId="{173981E2-114F-4894-AD6C-3E124BDABFB6}" destId="{4F7639F1-9D0C-41BE-ABA2-B3E98837C0D9}" srcOrd="1" destOrd="0" presId="urn:microsoft.com/office/officeart/2005/8/layout/pyramid1"/>
    <dgm:cxn modelId="{EFC9D11D-6F5E-4AE6-BFF7-D2EC011FEFA4}" srcId="{3077F99F-AFD9-4A32-9330-E2B2AB6CCB14}" destId="{173981E2-114F-4894-AD6C-3E124BDABFB6}" srcOrd="1" destOrd="0" parTransId="{83060F51-1223-4FE2-A40A-6076BC699D8B}" sibTransId="{609374B8-3793-4650-AD0F-4864D9941884}"/>
    <dgm:cxn modelId="{B425C646-AB43-4090-8D5D-1FD09F9D7D38}" type="presOf" srcId="{355E0B8E-3EB8-4FC7-BC23-7BF6B61A64D0}" destId="{075E3244-2CA0-4A9F-BAF9-11628008E2D2}" srcOrd="0" destOrd="0" presId="urn:microsoft.com/office/officeart/2005/8/layout/pyramid1"/>
    <dgm:cxn modelId="{46EB6C7E-761C-47A2-BA3D-96A49F03667F}" type="presOf" srcId="{355E0B8E-3EB8-4FC7-BC23-7BF6B61A64D0}" destId="{FA5C41EA-682A-4EA9-9083-160850085767}" srcOrd="1" destOrd="0" presId="urn:microsoft.com/office/officeart/2005/8/layout/pyramid1"/>
    <dgm:cxn modelId="{B4252DB8-E35B-4AC9-86CE-20E56135683A}" type="presOf" srcId="{3077F99F-AFD9-4A32-9330-E2B2AB6CCB14}" destId="{67985AFF-02C5-4621-AB0F-9E58503B1F33}" srcOrd="0" destOrd="0" presId="urn:microsoft.com/office/officeart/2005/8/layout/pyramid1"/>
    <dgm:cxn modelId="{A793CCC0-1EB5-4B37-B997-266B36BB81E4}" type="presOf" srcId="{173981E2-114F-4894-AD6C-3E124BDABFB6}" destId="{955D3275-4CEE-41C6-AF8A-AAFCF99A28C1}" srcOrd="0" destOrd="0" presId="urn:microsoft.com/office/officeart/2005/8/layout/pyramid1"/>
    <dgm:cxn modelId="{D86679CA-5354-4B63-B991-B969AB1C2639}" srcId="{3077F99F-AFD9-4A32-9330-E2B2AB6CCB14}" destId="{9E7198A6-CDA6-457E-BB7A-8092FC5200D6}" srcOrd="0" destOrd="0" parTransId="{2C04C28B-B405-4609-A73A-14DE8EFA515D}" sibTransId="{F00D5A48-75CC-4F84-9293-10D48933A939}"/>
    <dgm:cxn modelId="{020DD6CD-25F4-447D-96C7-53F7CD56653F}" type="presOf" srcId="{9E7198A6-CDA6-457E-BB7A-8092FC5200D6}" destId="{82B7C6C3-AC5B-48D0-B8EF-84EBB6022D8E}" srcOrd="1" destOrd="0" presId="urn:microsoft.com/office/officeart/2005/8/layout/pyramid1"/>
    <dgm:cxn modelId="{8A60E1ED-9CD5-44DC-9B20-6D954E8DA281}" type="presOf" srcId="{9E7198A6-CDA6-457E-BB7A-8092FC5200D6}" destId="{3ED24DCF-63A9-46BF-8EB4-5A8AB4B1875A}" srcOrd="0" destOrd="0" presId="urn:microsoft.com/office/officeart/2005/8/layout/pyramid1"/>
    <dgm:cxn modelId="{60764FA8-C364-4143-85B5-4B5041E46257}" type="presParOf" srcId="{67985AFF-02C5-4621-AB0F-9E58503B1F33}" destId="{B0F13185-0131-4813-A516-23D1051E02CE}" srcOrd="0" destOrd="0" presId="urn:microsoft.com/office/officeart/2005/8/layout/pyramid1"/>
    <dgm:cxn modelId="{0DF571A1-1A6A-4E9D-B3D5-076A7B210A8C}" type="presParOf" srcId="{B0F13185-0131-4813-A516-23D1051E02CE}" destId="{3ED24DCF-63A9-46BF-8EB4-5A8AB4B1875A}" srcOrd="0" destOrd="0" presId="urn:microsoft.com/office/officeart/2005/8/layout/pyramid1"/>
    <dgm:cxn modelId="{5AD992A8-3DFE-42F5-AE28-FAA045F170A0}" type="presParOf" srcId="{B0F13185-0131-4813-A516-23D1051E02CE}" destId="{82B7C6C3-AC5B-48D0-B8EF-84EBB6022D8E}" srcOrd="1" destOrd="0" presId="urn:microsoft.com/office/officeart/2005/8/layout/pyramid1"/>
    <dgm:cxn modelId="{D3F182BD-D231-444B-A03B-3B932537E2A7}" type="presParOf" srcId="{67985AFF-02C5-4621-AB0F-9E58503B1F33}" destId="{6E8D7731-A001-4F25-BE98-1B752525B503}" srcOrd="1" destOrd="0" presId="urn:microsoft.com/office/officeart/2005/8/layout/pyramid1"/>
    <dgm:cxn modelId="{E604350D-CD0F-4919-B25B-DB46AD1164B1}" type="presParOf" srcId="{6E8D7731-A001-4F25-BE98-1B752525B503}" destId="{955D3275-4CEE-41C6-AF8A-AAFCF99A28C1}" srcOrd="0" destOrd="0" presId="urn:microsoft.com/office/officeart/2005/8/layout/pyramid1"/>
    <dgm:cxn modelId="{BEF33AA9-0E0C-4281-9A29-AA416D393555}" type="presParOf" srcId="{6E8D7731-A001-4F25-BE98-1B752525B503}" destId="{4F7639F1-9D0C-41BE-ABA2-B3E98837C0D9}" srcOrd="1" destOrd="0" presId="urn:microsoft.com/office/officeart/2005/8/layout/pyramid1"/>
    <dgm:cxn modelId="{229E344B-2963-4C00-8CEA-E5B8D449C1A0}" type="presParOf" srcId="{67985AFF-02C5-4621-AB0F-9E58503B1F33}" destId="{75CEA17D-6720-4CF6-B5B6-8D31FD31954C}" srcOrd="2" destOrd="0" presId="urn:microsoft.com/office/officeart/2005/8/layout/pyramid1"/>
    <dgm:cxn modelId="{1409667E-61DE-4ECD-B319-A265DCDF0187}" type="presParOf" srcId="{75CEA17D-6720-4CF6-B5B6-8D31FD31954C}" destId="{075E3244-2CA0-4A9F-BAF9-11628008E2D2}" srcOrd="0" destOrd="0" presId="urn:microsoft.com/office/officeart/2005/8/layout/pyramid1"/>
    <dgm:cxn modelId="{CEC60D34-C666-4F59-9750-8F53EEB284B8}" type="presParOf" srcId="{75CEA17D-6720-4CF6-B5B6-8D31FD31954C}" destId="{FA5C41EA-682A-4EA9-9083-160850085767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E634A6-F8BE-43C6-A19F-1749C91F3E05}">
      <dsp:nvSpPr>
        <dsp:cNvPr id="0" name=""/>
        <dsp:cNvSpPr/>
      </dsp:nvSpPr>
      <dsp:spPr>
        <a:xfrm>
          <a:off x="10715" y="3103165"/>
          <a:ext cx="3202781" cy="19216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>
              <a:latin typeface="DM Sans" pitchFamily="2" charset="0"/>
            </a:rPr>
            <a:t>Tujuan Utama </a:t>
          </a:r>
          <a:endParaRPr lang="en-ID" sz="4800" kern="1200" dirty="0">
            <a:latin typeface="DM Sans" pitchFamily="2" charset="0"/>
          </a:endParaRPr>
        </a:p>
      </dsp:txBody>
      <dsp:txXfrm>
        <a:off x="66999" y="3159449"/>
        <a:ext cx="3090213" cy="1809100"/>
      </dsp:txXfrm>
    </dsp:sp>
    <dsp:sp modelId="{7DD77292-3EA3-4001-805B-22EE2250A167}">
      <dsp:nvSpPr>
        <dsp:cNvPr id="0" name=""/>
        <dsp:cNvSpPr/>
      </dsp:nvSpPr>
      <dsp:spPr>
        <a:xfrm>
          <a:off x="3533775" y="3666855"/>
          <a:ext cx="678989" cy="7942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3400" kern="1200"/>
        </a:p>
      </dsp:txBody>
      <dsp:txXfrm>
        <a:off x="3533775" y="3825713"/>
        <a:ext cx="475292" cy="476573"/>
      </dsp:txXfrm>
    </dsp:sp>
    <dsp:sp modelId="{23AD35AE-3D9B-4B49-9189-1DE293BF2818}">
      <dsp:nvSpPr>
        <dsp:cNvPr id="0" name=""/>
        <dsp:cNvSpPr/>
      </dsp:nvSpPr>
      <dsp:spPr>
        <a:xfrm>
          <a:off x="4494609" y="3103165"/>
          <a:ext cx="3202781" cy="192166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 err="1">
              <a:latin typeface="DM Sans" pitchFamily="2" charset="0"/>
            </a:rPr>
            <a:t>Cakupan</a:t>
          </a:r>
          <a:r>
            <a:rPr lang="en-US" sz="4800" kern="1200" dirty="0">
              <a:latin typeface="DM Sans" pitchFamily="2" charset="0"/>
            </a:rPr>
            <a:t> (Scope)</a:t>
          </a:r>
          <a:endParaRPr lang="en-ID" sz="4800" kern="1200" dirty="0">
            <a:latin typeface="DM Sans" pitchFamily="2" charset="0"/>
          </a:endParaRPr>
        </a:p>
      </dsp:txBody>
      <dsp:txXfrm>
        <a:off x="4550893" y="3159449"/>
        <a:ext cx="3090213" cy="1809100"/>
      </dsp:txXfrm>
    </dsp:sp>
    <dsp:sp modelId="{F5570A60-D021-4D34-A1A6-1132300BB754}">
      <dsp:nvSpPr>
        <dsp:cNvPr id="0" name=""/>
        <dsp:cNvSpPr/>
      </dsp:nvSpPr>
      <dsp:spPr>
        <a:xfrm>
          <a:off x="8017668" y="3666855"/>
          <a:ext cx="678989" cy="7942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3400" kern="1200"/>
        </a:p>
      </dsp:txBody>
      <dsp:txXfrm>
        <a:off x="8017668" y="3825713"/>
        <a:ext cx="475292" cy="476573"/>
      </dsp:txXfrm>
    </dsp:sp>
    <dsp:sp modelId="{6DBB9915-41A7-4B3A-BB25-0D7C4D87E5B5}">
      <dsp:nvSpPr>
        <dsp:cNvPr id="0" name=""/>
        <dsp:cNvSpPr/>
      </dsp:nvSpPr>
      <dsp:spPr>
        <a:xfrm>
          <a:off x="8978503" y="3103165"/>
          <a:ext cx="3202781" cy="192166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>
              <a:latin typeface="DM Sans" pitchFamily="2" charset="0"/>
            </a:rPr>
            <a:t>Manfaat</a:t>
          </a:r>
          <a:endParaRPr lang="en-ID" sz="4800" kern="1200" dirty="0">
            <a:latin typeface="DM Sans" pitchFamily="2" charset="0"/>
          </a:endParaRPr>
        </a:p>
      </dsp:txBody>
      <dsp:txXfrm>
        <a:off x="9034787" y="3159449"/>
        <a:ext cx="3090213" cy="18091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9600A2-40CA-43CE-83AF-26D4414096F4}">
      <dsp:nvSpPr>
        <dsp:cNvPr id="0" name=""/>
        <dsp:cNvSpPr/>
      </dsp:nvSpPr>
      <dsp:spPr>
        <a:xfrm>
          <a:off x="2858211" y="548639"/>
          <a:ext cx="6827520" cy="6827520"/>
        </a:xfrm>
        <a:prstGeom prst="pie">
          <a:avLst>
            <a:gd name="adj1" fmla="val 16200000"/>
            <a:gd name="adj2" fmla="val 18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Tetap pada </a:t>
          </a:r>
          <a:r>
            <a:rPr lang="en-US" sz="4600" kern="1200" dirty="0" err="1"/>
            <a:t>anggaran</a:t>
          </a:r>
          <a:endParaRPr lang="en-ID" sz="4600" kern="1200" dirty="0"/>
        </a:p>
      </dsp:txBody>
      <dsp:txXfrm>
        <a:off x="6570268" y="1808479"/>
        <a:ext cx="2316480" cy="2275840"/>
      </dsp:txXfrm>
    </dsp:sp>
    <dsp:sp modelId="{6C6C447B-34F9-4708-852F-279FE3AD3806}">
      <dsp:nvSpPr>
        <dsp:cNvPr id="0" name=""/>
        <dsp:cNvSpPr/>
      </dsp:nvSpPr>
      <dsp:spPr>
        <a:xfrm>
          <a:off x="2506268" y="751839"/>
          <a:ext cx="6827520" cy="6827520"/>
        </a:xfrm>
        <a:prstGeom prst="pie">
          <a:avLst>
            <a:gd name="adj1" fmla="val 1800000"/>
            <a:gd name="adj2" fmla="val 900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Jaga </a:t>
          </a:r>
          <a:r>
            <a:rPr lang="en-US" sz="4600" kern="1200" dirty="0" err="1"/>
            <a:t>Kualitas</a:t>
          </a:r>
          <a:endParaRPr lang="en-ID" sz="4600" kern="1200" dirty="0"/>
        </a:p>
      </dsp:txBody>
      <dsp:txXfrm>
        <a:off x="4375708" y="5059680"/>
        <a:ext cx="3088640" cy="2113280"/>
      </dsp:txXfrm>
    </dsp:sp>
    <dsp:sp modelId="{9DDA3D36-16F3-4287-9188-FADA11E2EAE5}">
      <dsp:nvSpPr>
        <dsp:cNvPr id="0" name=""/>
        <dsp:cNvSpPr/>
      </dsp:nvSpPr>
      <dsp:spPr>
        <a:xfrm>
          <a:off x="2506268" y="751839"/>
          <a:ext cx="6827520" cy="6827520"/>
        </a:xfrm>
        <a:prstGeom prst="pie">
          <a:avLst>
            <a:gd name="adj1" fmla="val 9000000"/>
            <a:gd name="adj2" fmla="val 1620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 err="1"/>
            <a:t>Selesai</a:t>
          </a:r>
          <a:r>
            <a:rPr lang="en-US" sz="4600" kern="1200" dirty="0"/>
            <a:t> Tepat Waktu </a:t>
          </a:r>
          <a:endParaRPr lang="en-ID" sz="4600" kern="1200" dirty="0"/>
        </a:p>
      </dsp:txBody>
      <dsp:txXfrm>
        <a:off x="3237788" y="2092960"/>
        <a:ext cx="2316480" cy="22758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D24DCF-63A9-46BF-8EB4-5A8AB4B1875A}">
      <dsp:nvSpPr>
        <dsp:cNvPr id="0" name=""/>
        <dsp:cNvSpPr/>
      </dsp:nvSpPr>
      <dsp:spPr>
        <a:xfrm>
          <a:off x="2565399" y="0"/>
          <a:ext cx="2565400" cy="1657895"/>
        </a:xfrm>
        <a:prstGeom prst="trapezoid">
          <a:avLst>
            <a:gd name="adj" fmla="val 77369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Scope </a:t>
          </a:r>
          <a:endParaRPr lang="en-ID" sz="6500" kern="1200" dirty="0"/>
        </a:p>
      </dsp:txBody>
      <dsp:txXfrm>
        <a:off x="2565399" y="0"/>
        <a:ext cx="2565400" cy="1657895"/>
      </dsp:txXfrm>
    </dsp:sp>
    <dsp:sp modelId="{955D3275-4CEE-41C6-AF8A-AAFCF99A28C1}">
      <dsp:nvSpPr>
        <dsp:cNvPr id="0" name=""/>
        <dsp:cNvSpPr/>
      </dsp:nvSpPr>
      <dsp:spPr>
        <a:xfrm>
          <a:off x="1282699" y="1657895"/>
          <a:ext cx="5130800" cy="1657895"/>
        </a:xfrm>
        <a:prstGeom prst="trapezoid">
          <a:avLst>
            <a:gd name="adj" fmla="val 77369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Time </a:t>
          </a:r>
          <a:endParaRPr lang="en-ID" sz="6500" kern="1200" dirty="0"/>
        </a:p>
      </dsp:txBody>
      <dsp:txXfrm>
        <a:off x="2180589" y="1657895"/>
        <a:ext cx="3335020" cy="1657895"/>
      </dsp:txXfrm>
    </dsp:sp>
    <dsp:sp modelId="{075E3244-2CA0-4A9F-BAF9-11628008E2D2}">
      <dsp:nvSpPr>
        <dsp:cNvPr id="0" name=""/>
        <dsp:cNvSpPr/>
      </dsp:nvSpPr>
      <dsp:spPr>
        <a:xfrm>
          <a:off x="0" y="3315790"/>
          <a:ext cx="7696200" cy="1657895"/>
        </a:xfrm>
        <a:prstGeom prst="trapezoid">
          <a:avLst>
            <a:gd name="adj" fmla="val 77369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Cost</a:t>
          </a:r>
          <a:endParaRPr lang="en-ID" sz="6500" kern="1200" dirty="0"/>
        </a:p>
      </dsp:txBody>
      <dsp:txXfrm>
        <a:off x="1346834" y="3315790"/>
        <a:ext cx="5002530" cy="16578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4.sv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3.png"/><Relationship Id="rId9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12" Type="http://schemas.microsoft.com/office/2007/relationships/diagramDrawing" Target="../diagrams/drawing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diagramColors" Target="../diagrams/colors2.xml"/><Relationship Id="rId5" Type="http://schemas.openxmlformats.org/officeDocument/2006/relationships/image" Target="../media/image10.svg"/><Relationship Id="rId10" Type="http://schemas.openxmlformats.org/officeDocument/2006/relationships/diagramQuickStyle" Target="../diagrams/quickStyle2.xml"/><Relationship Id="rId4" Type="http://schemas.openxmlformats.org/officeDocument/2006/relationships/image" Target="../media/image9.png"/><Relationship Id="rId9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diagramColors" Target="../diagrams/colors3.xml"/><Relationship Id="rId5" Type="http://schemas.openxmlformats.org/officeDocument/2006/relationships/image" Target="../media/image4.svg"/><Relationship Id="rId10" Type="http://schemas.openxmlformats.org/officeDocument/2006/relationships/diagramQuickStyle" Target="../diagrams/quickStyle3.xml"/><Relationship Id="rId4" Type="http://schemas.openxmlformats.org/officeDocument/2006/relationships/image" Target="../media/image3.png"/><Relationship Id="rId9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173320"/>
            <a:ext cx="16230600" cy="10773410"/>
            <a:chOff x="0" y="0"/>
            <a:chExt cx="4274726" cy="28374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837441"/>
            </a:xfrm>
            <a:custGeom>
              <a:avLst/>
              <a:gdLst/>
              <a:ahLst/>
              <a:cxnLst/>
              <a:rect l="l" t="t" r="r" b="b"/>
              <a:pathLst>
                <a:path w="4274726" h="2837441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813114"/>
                  </a:lnTo>
                  <a:cubicBezTo>
                    <a:pt x="4274726" y="2826550"/>
                    <a:pt x="4263834" y="2837441"/>
                    <a:pt x="4250399" y="2837441"/>
                  </a:cubicBezTo>
                  <a:lnTo>
                    <a:pt x="24327" y="2837441"/>
                  </a:lnTo>
                  <a:cubicBezTo>
                    <a:pt x="10891" y="2837441"/>
                    <a:pt x="0" y="2826550"/>
                    <a:pt x="0" y="281311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DD56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875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-6768597" y="2628077"/>
            <a:ext cx="11422547" cy="5030847"/>
            <a:chOff x="0" y="0"/>
            <a:chExt cx="3008407" cy="13249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08407" cy="1324997"/>
            </a:xfrm>
            <a:custGeom>
              <a:avLst/>
              <a:gdLst/>
              <a:ahLst/>
              <a:cxnLst/>
              <a:rect l="l" t="t" r="r" b="b"/>
              <a:pathLst>
                <a:path w="3008407" h="1324997">
                  <a:moveTo>
                    <a:pt x="0" y="0"/>
                  </a:moveTo>
                  <a:lnTo>
                    <a:pt x="3008407" y="0"/>
                  </a:lnTo>
                  <a:lnTo>
                    <a:pt x="3008407" y="1324997"/>
                  </a:lnTo>
                  <a:lnTo>
                    <a:pt x="0" y="1324997"/>
                  </a:lnTo>
                  <a:close/>
                </a:path>
              </a:pathLst>
            </a:custGeom>
            <a:solidFill>
              <a:srgbClr val="FDD56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008407" cy="1363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445106" y="3383088"/>
            <a:ext cx="673331" cy="4114800"/>
          </a:xfrm>
          <a:custGeom>
            <a:avLst/>
            <a:gdLst/>
            <a:ahLst/>
            <a:cxnLst/>
            <a:rect l="l" t="t" r="r" b="b"/>
            <a:pathLst>
              <a:path w="673331" h="4114800">
                <a:moveTo>
                  <a:pt x="0" y="0"/>
                </a:moveTo>
                <a:lnTo>
                  <a:pt x="673331" y="0"/>
                </a:lnTo>
                <a:lnTo>
                  <a:pt x="6733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894180" y="8313555"/>
            <a:ext cx="4213489" cy="2750259"/>
          </a:xfrm>
          <a:custGeom>
            <a:avLst/>
            <a:gdLst/>
            <a:ahLst/>
            <a:cxnLst/>
            <a:rect l="l" t="t" r="r" b="b"/>
            <a:pathLst>
              <a:path w="4213489" h="2750259">
                <a:moveTo>
                  <a:pt x="0" y="0"/>
                </a:moveTo>
                <a:lnTo>
                  <a:pt x="4213489" y="0"/>
                </a:lnTo>
                <a:lnTo>
                  <a:pt x="4213489" y="2750259"/>
                </a:lnTo>
                <a:lnTo>
                  <a:pt x="0" y="2750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V="1">
            <a:off x="14894180" y="-767346"/>
            <a:ext cx="4213489" cy="2750259"/>
          </a:xfrm>
          <a:custGeom>
            <a:avLst/>
            <a:gdLst/>
            <a:ahLst/>
            <a:cxnLst/>
            <a:rect l="l" t="t" r="r" b="b"/>
            <a:pathLst>
              <a:path w="4213489" h="2750259">
                <a:moveTo>
                  <a:pt x="0" y="2750259"/>
                </a:moveTo>
                <a:lnTo>
                  <a:pt x="4213489" y="2750259"/>
                </a:lnTo>
                <a:lnTo>
                  <a:pt x="4213489" y="0"/>
                </a:lnTo>
                <a:lnTo>
                  <a:pt x="0" y="0"/>
                </a:lnTo>
                <a:lnTo>
                  <a:pt x="0" y="275025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1731957" y="3383088"/>
            <a:ext cx="2760657" cy="4114800"/>
          </a:xfrm>
          <a:custGeom>
            <a:avLst/>
            <a:gdLst/>
            <a:ahLst/>
            <a:cxnLst/>
            <a:rect l="l" t="t" r="r" b="b"/>
            <a:pathLst>
              <a:path w="2760657" h="4114800">
                <a:moveTo>
                  <a:pt x="0" y="0"/>
                </a:moveTo>
                <a:lnTo>
                  <a:pt x="2760657" y="0"/>
                </a:lnTo>
                <a:lnTo>
                  <a:pt x="27606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912036" y="2884503"/>
            <a:ext cx="10492502" cy="1324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06"/>
              </a:lnSpc>
            </a:pPr>
            <a:r>
              <a:rPr lang="en-US" sz="11632" b="1" spc="-51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Management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47114" y="4380320"/>
            <a:ext cx="13393773" cy="274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6"/>
              </a:lnSpc>
            </a:pPr>
            <a:r>
              <a:rPr lang="en-US" sz="19182" b="1" spc="-844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PROJECT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42794" y="7435379"/>
            <a:ext cx="9873945" cy="588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6"/>
              </a:lnSpc>
            </a:pPr>
            <a:r>
              <a:rPr lang="en-US" sz="4406" spc="-149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Alvionitha Sari A.,S.Kom.,</a:t>
            </a:r>
            <a:r>
              <a:rPr lang="en-US" sz="4406" spc="-149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M.Tr.T</a:t>
            </a:r>
            <a:r>
              <a:rPr lang="en-US" sz="4406" spc="-149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173320"/>
            <a:ext cx="16230600" cy="10773410"/>
            <a:chOff x="0" y="0"/>
            <a:chExt cx="4274726" cy="28374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837441"/>
            </a:xfrm>
            <a:custGeom>
              <a:avLst/>
              <a:gdLst/>
              <a:ahLst/>
              <a:cxnLst/>
              <a:rect l="l" t="t" r="r" b="b"/>
              <a:pathLst>
                <a:path w="4274726" h="2837441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813114"/>
                  </a:lnTo>
                  <a:cubicBezTo>
                    <a:pt x="4274726" y="2826550"/>
                    <a:pt x="4263834" y="2837441"/>
                    <a:pt x="4250399" y="2837441"/>
                  </a:cubicBezTo>
                  <a:lnTo>
                    <a:pt x="24327" y="2837441"/>
                  </a:lnTo>
                  <a:cubicBezTo>
                    <a:pt x="10891" y="2837441"/>
                    <a:pt x="0" y="2826550"/>
                    <a:pt x="0" y="281311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DD56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875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-6768597" y="2628077"/>
            <a:ext cx="11422547" cy="5030847"/>
            <a:chOff x="0" y="0"/>
            <a:chExt cx="3008407" cy="13249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08407" cy="1324997"/>
            </a:xfrm>
            <a:custGeom>
              <a:avLst/>
              <a:gdLst/>
              <a:ahLst/>
              <a:cxnLst/>
              <a:rect l="l" t="t" r="r" b="b"/>
              <a:pathLst>
                <a:path w="3008407" h="1324997">
                  <a:moveTo>
                    <a:pt x="0" y="0"/>
                  </a:moveTo>
                  <a:lnTo>
                    <a:pt x="3008407" y="0"/>
                  </a:lnTo>
                  <a:lnTo>
                    <a:pt x="3008407" y="1324997"/>
                  </a:lnTo>
                  <a:lnTo>
                    <a:pt x="0" y="1324997"/>
                  </a:lnTo>
                  <a:close/>
                </a:path>
              </a:pathLst>
            </a:custGeom>
            <a:solidFill>
              <a:srgbClr val="FDD56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008407" cy="1363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445106" y="3383088"/>
            <a:ext cx="673331" cy="4114800"/>
          </a:xfrm>
          <a:custGeom>
            <a:avLst/>
            <a:gdLst/>
            <a:ahLst/>
            <a:cxnLst/>
            <a:rect l="l" t="t" r="r" b="b"/>
            <a:pathLst>
              <a:path w="673331" h="4114800">
                <a:moveTo>
                  <a:pt x="0" y="0"/>
                </a:moveTo>
                <a:lnTo>
                  <a:pt x="673331" y="0"/>
                </a:lnTo>
                <a:lnTo>
                  <a:pt x="6733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894180" y="8313555"/>
            <a:ext cx="4213489" cy="2750259"/>
          </a:xfrm>
          <a:custGeom>
            <a:avLst/>
            <a:gdLst/>
            <a:ahLst/>
            <a:cxnLst/>
            <a:rect l="l" t="t" r="r" b="b"/>
            <a:pathLst>
              <a:path w="4213489" h="2750259">
                <a:moveTo>
                  <a:pt x="0" y="0"/>
                </a:moveTo>
                <a:lnTo>
                  <a:pt x="4213489" y="0"/>
                </a:lnTo>
                <a:lnTo>
                  <a:pt x="4213489" y="2750259"/>
                </a:lnTo>
                <a:lnTo>
                  <a:pt x="0" y="2750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V="1">
            <a:off x="14894180" y="-767346"/>
            <a:ext cx="4213489" cy="2750259"/>
          </a:xfrm>
          <a:custGeom>
            <a:avLst/>
            <a:gdLst/>
            <a:ahLst/>
            <a:cxnLst/>
            <a:rect l="l" t="t" r="r" b="b"/>
            <a:pathLst>
              <a:path w="4213489" h="2750259">
                <a:moveTo>
                  <a:pt x="0" y="2750259"/>
                </a:moveTo>
                <a:lnTo>
                  <a:pt x="4213489" y="2750259"/>
                </a:lnTo>
                <a:lnTo>
                  <a:pt x="4213489" y="0"/>
                </a:lnTo>
                <a:lnTo>
                  <a:pt x="0" y="0"/>
                </a:lnTo>
                <a:lnTo>
                  <a:pt x="0" y="275025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350658" y="3533767"/>
            <a:ext cx="13586683" cy="986486"/>
            <a:chOff x="0" y="0"/>
            <a:chExt cx="3578386" cy="2598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78386" cy="259815"/>
            </a:xfrm>
            <a:custGeom>
              <a:avLst/>
              <a:gdLst/>
              <a:ahLst/>
              <a:cxnLst/>
              <a:rect l="l" t="t" r="r" b="b"/>
              <a:pathLst>
                <a:path w="3578386" h="259815">
                  <a:moveTo>
                    <a:pt x="21083" y="0"/>
                  </a:moveTo>
                  <a:lnTo>
                    <a:pt x="3557303" y="0"/>
                  </a:lnTo>
                  <a:cubicBezTo>
                    <a:pt x="3568946" y="0"/>
                    <a:pt x="3578386" y="9439"/>
                    <a:pt x="3578386" y="21083"/>
                  </a:cubicBezTo>
                  <a:lnTo>
                    <a:pt x="3578386" y="238732"/>
                  </a:lnTo>
                  <a:cubicBezTo>
                    <a:pt x="3578386" y="250376"/>
                    <a:pt x="3568946" y="259815"/>
                    <a:pt x="3557303" y="259815"/>
                  </a:cubicBezTo>
                  <a:lnTo>
                    <a:pt x="21083" y="259815"/>
                  </a:lnTo>
                  <a:cubicBezTo>
                    <a:pt x="9439" y="259815"/>
                    <a:pt x="0" y="250376"/>
                    <a:pt x="0" y="238732"/>
                  </a:cubicBezTo>
                  <a:lnTo>
                    <a:pt x="0" y="21083"/>
                  </a:lnTo>
                  <a:cubicBezTo>
                    <a:pt x="0" y="9439"/>
                    <a:pt x="9439" y="0"/>
                    <a:pt x="21083" y="0"/>
                  </a:cubicBezTo>
                  <a:close/>
                </a:path>
              </a:pathLst>
            </a:custGeom>
            <a:solidFill>
              <a:srgbClr val="393939"/>
            </a:solidFill>
            <a:ln w="47625" cap="rnd">
              <a:solidFill>
                <a:srgbClr val="FDD56F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578386" cy="29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907324" y="3405547"/>
            <a:ext cx="10046676" cy="927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2740" lvl="1" indent="-436370" algn="just">
              <a:lnSpc>
                <a:spcPts val="8084"/>
              </a:lnSpc>
              <a:buFont typeface="Arial"/>
              <a:buChar char="•"/>
            </a:pPr>
            <a:r>
              <a:rPr lang="en-US" sz="4042" spc="-137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Definisi</a:t>
            </a:r>
            <a:r>
              <a:rPr lang="en-US" sz="4042" spc="-137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dan </a:t>
            </a:r>
            <a:r>
              <a:rPr lang="en-US" sz="4042" spc="-137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Karakteristik</a:t>
            </a:r>
            <a:r>
              <a:rPr lang="en-US" sz="4042" spc="-137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042" spc="-137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Proyek</a:t>
            </a:r>
            <a:r>
              <a:rPr lang="en-US" sz="4042" spc="-137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350658" y="4684847"/>
            <a:ext cx="13586683" cy="986486"/>
            <a:chOff x="0" y="0"/>
            <a:chExt cx="3578386" cy="25981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578386" cy="259815"/>
            </a:xfrm>
            <a:custGeom>
              <a:avLst/>
              <a:gdLst/>
              <a:ahLst/>
              <a:cxnLst/>
              <a:rect l="l" t="t" r="r" b="b"/>
              <a:pathLst>
                <a:path w="3578386" h="259815">
                  <a:moveTo>
                    <a:pt x="21083" y="0"/>
                  </a:moveTo>
                  <a:lnTo>
                    <a:pt x="3557303" y="0"/>
                  </a:lnTo>
                  <a:cubicBezTo>
                    <a:pt x="3568946" y="0"/>
                    <a:pt x="3578386" y="9439"/>
                    <a:pt x="3578386" y="21083"/>
                  </a:cubicBezTo>
                  <a:lnTo>
                    <a:pt x="3578386" y="238732"/>
                  </a:lnTo>
                  <a:cubicBezTo>
                    <a:pt x="3578386" y="250376"/>
                    <a:pt x="3568946" y="259815"/>
                    <a:pt x="3557303" y="259815"/>
                  </a:cubicBezTo>
                  <a:lnTo>
                    <a:pt x="21083" y="259815"/>
                  </a:lnTo>
                  <a:cubicBezTo>
                    <a:pt x="9439" y="259815"/>
                    <a:pt x="0" y="250376"/>
                    <a:pt x="0" y="238732"/>
                  </a:cubicBezTo>
                  <a:lnTo>
                    <a:pt x="0" y="21083"/>
                  </a:lnTo>
                  <a:cubicBezTo>
                    <a:pt x="0" y="9439"/>
                    <a:pt x="9439" y="0"/>
                    <a:pt x="21083" y="0"/>
                  </a:cubicBezTo>
                  <a:close/>
                </a:path>
              </a:pathLst>
            </a:custGeom>
            <a:solidFill>
              <a:srgbClr val="393939"/>
            </a:solidFill>
            <a:ln w="47625" cap="rnd">
              <a:solidFill>
                <a:srgbClr val="FDD56F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578386" cy="29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907324" y="4569053"/>
            <a:ext cx="7836876" cy="927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2740" lvl="1" indent="-436370" algn="just">
              <a:lnSpc>
                <a:spcPts val="8084"/>
              </a:lnSpc>
              <a:buFont typeface="Arial"/>
              <a:buChar char="•"/>
            </a:pPr>
            <a:r>
              <a:rPr lang="en-US" sz="4042" spc="-137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Manajemen</a:t>
            </a:r>
            <a:r>
              <a:rPr lang="en-US" sz="4042" spc="-137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042" spc="-137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Proyek</a:t>
            </a:r>
            <a:r>
              <a:rPr lang="en-US" sz="4042" spc="-137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364946" y="5833258"/>
            <a:ext cx="13586683" cy="986486"/>
            <a:chOff x="0" y="0"/>
            <a:chExt cx="3578386" cy="25981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578386" cy="259815"/>
            </a:xfrm>
            <a:custGeom>
              <a:avLst/>
              <a:gdLst/>
              <a:ahLst/>
              <a:cxnLst/>
              <a:rect l="l" t="t" r="r" b="b"/>
              <a:pathLst>
                <a:path w="3578386" h="259815">
                  <a:moveTo>
                    <a:pt x="21083" y="0"/>
                  </a:moveTo>
                  <a:lnTo>
                    <a:pt x="3557303" y="0"/>
                  </a:lnTo>
                  <a:cubicBezTo>
                    <a:pt x="3568946" y="0"/>
                    <a:pt x="3578386" y="9439"/>
                    <a:pt x="3578386" y="21083"/>
                  </a:cubicBezTo>
                  <a:lnTo>
                    <a:pt x="3578386" y="238732"/>
                  </a:lnTo>
                  <a:cubicBezTo>
                    <a:pt x="3578386" y="250376"/>
                    <a:pt x="3568946" y="259815"/>
                    <a:pt x="3557303" y="259815"/>
                  </a:cubicBezTo>
                  <a:lnTo>
                    <a:pt x="21083" y="259815"/>
                  </a:lnTo>
                  <a:cubicBezTo>
                    <a:pt x="9439" y="259815"/>
                    <a:pt x="0" y="250376"/>
                    <a:pt x="0" y="238732"/>
                  </a:cubicBezTo>
                  <a:lnTo>
                    <a:pt x="0" y="21083"/>
                  </a:lnTo>
                  <a:cubicBezTo>
                    <a:pt x="0" y="9439"/>
                    <a:pt x="9439" y="0"/>
                    <a:pt x="21083" y="0"/>
                  </a:cubicBezTo>
                  <a:close/>
                </a:path>
              </a:pathLst>
            </a:custGeom>
            <a:solidFill>
              <a:srgbClr val="393939"/>
            </a:solidFill>
            <a:ln w="47625" cap="rnd">
              <a:solidFill>
                <a:srgbClr val="FDD56F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578386" cy="29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907324" y="5732560"/>
            <a:ext cx="7379336" cy="927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2740" lvl="1" indent="-436370" algn="just">
              <a:lnSpc>
                <a:spcPts val="8084"/>
              </a:lnSpc>
              <a:buFont typeface="Arial"/>
              <a:buChar char="•"/>
            </a:pPr>
            <a:r>
              <a:rPr lang="en-US" sz="4042" spc="-137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Siklus</a:t>
            </a:r>
            <a:r>
              <a:rPr lang="en-US" sz="4042" spc="-137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Hidup </a:t>
            </a:r>
            <a:r>
              <a:rPr lang="en-US" sz="4042" spc="-137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Proyek</a:t>
            </a:r>
            <a:endParaRPr lang="en-US" sz="4042" spc="-137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2364946" y="6981669"/>
            <a:ext cx="13586683" cy="986486"/>
            <a:chOff x="0" y="0"/>
            <a:chExt cx="3578386" cy="25981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578386" cy="259815"/>
            </a:xfrm>
            <a:custGeom>
              <a:avLst/>
              <a:gdLst/>
              <a:ahLst/>
              <a:cxnLst/>
              <a:rect l="l" t="t" r="r" b="b"/>
              <a:pathLst>
                <a:path w="3578386" h="259815">
                  <a:moveTo>
                    <a:pt x="21083" y="0"/>
                  </a:moveTo>
                  <a:lnTo>
                    <a:pt x="3557303" y="0"/>
                  </a:lnTo>
                  <a:cubicBezTo>
                    <a:pt x="3568946" y="0"/>
                    <a:pt x="3578386" y="9439"/>
                    <a:pt x="3578386" y="21083"/>
                  </a:cubicBezTo>
                  <a:lnTo>
                    <a:pt x="3578386" y="238732"/>
                  </a:lnTo>
                  <a:cubicBezTo>
                    <a:pt x="3578386" y="250376"/>
                    <a:pt x="3568946" y="259815"/>
                    <a:pt x="3557303" y="259815"/>
                  </a:cubicBezTo>
                  <a:lnTo>
                    <a:pt x="21083" y="259815"/>
                  </a:lnTo>
                  <a:cubicBezTo>
                    <a:pt x="9439" y="259815"/>
                    <a:pt x="0" y="250376"/>
                    <a:pt x="0" y="238732"/>
                  </a:cubicBezTo>
                  <a:lnTo>
                    <a:pt x="0" y="21083"/>
                  </a:lnTo>
                  <a:cubicBezTo>
                    <a:pt x="0" y="9439"/>
                    <a:pt x="9439" y="0"/>
                    <a:pt x="21083" y="0"/>
                  </a:cubicBezTo>
                  <a:close/>
                </a:path>
              </a:pathLst>
            </a:custGeom>
            <a:solidFill>
              <a:srgbClr val="393939"/>
            </a:solidFill>
            <a:ln w="47625" cap="rnd">
              <a:solidFill>
                <a:srgbClr val="FDD56F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578386" cy="29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907324" y="6896066"/>
            <a:ext cx="10046676" cy="927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2740" lvl="1" indent="-436370" algn="just">
              <a:lnSpc>
                <a:spcPts val="8084"/>
              </a:lnSpc>
              <a:buFont typeface="Arial"/>
              <a:buChar char="•"/>
            </a:pPr>
            <a:r>
              <a:rPr lang="en-US" sz="4042" spc="-137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Kesimpulan dan </a:t>
            </a:r>
            <a:r>
              <a:rPr lang="en-US" sz="4042" spc="-137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Evaluasi</a:t>
            </a:r>
            <a:r>
              <a:rPr lang="en-US" sz="4042" spc="-137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009436" y="1685860"/>
            <a:ext cx="8297704" cy="1358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9501" b="1" spc="-41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Overview</a:t>
            </a:r>
          </a:p>
        </p:txBody>
      </p:sp>
      <p:sp>
        <p:nvSpPr>
          <p:cNvPr id="32" name="Freeform 32"/>
          <p:cNvSpPr/>
          <p:nvPr/>
        </p:nvSpPr>
        <p:spPr>
          <a:xfrm>
            <a:off x="-1731957" y="3383088"/>
            <a:ext cx="2760657" cy="4114800"/>
          </a:xfrm>
          <a:custGeom>
            <a:avLst/>
            <a:gdLst/>
            <a:ahLst/>
            <a:cxnLst/>
            <a:rect l="l" t="t" r="r" b="b"/>
            <a:pathLst>
              <a:path w="2760657" h="4114800">
                <a:moveTo>
                  <a:pt x="0" y="0"/>
                </a:moveTo>
                <a:lnTo>
                  <a:pt x="2760657" y="0"/>
                </a:lnTo>
                <a:lnTo>
                  <a:pt x="27606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173320"/>
            <a:ext cx="16230600" cy="10773410"/>
            <a:chOff x="0" y="0"/>
            <a:chExt cx="4274726" cy="28374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837441"/>
            </a:xfrm>
            <a:custGeom>
              <a:avLst/>
              <a:gdLst/>
              <a:ahLst/>
              <a:cxnLst/>
              <a:rect l="l" t="t" r="r" b="b"/>
              <a:pathLst>
                <a:path w="4274726" h="2837441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813114"/>
                  </a:lnTo>
                  <a:cubicBezTo>
                    <a:pt x="4274726" y="2826550"/>
                    <a:pt x="4263834" y="2837441"/>
                    <a:pt x="4250399" y="2837441"/>
                  </a:cubicBezTo>
                  <a:lnTo>
                    <a:pt x="24327" y="2837441"/>
                  </a:lnTo>
                  <a:cubicBezTo>
                    <a:pt x="10891" y="2837441"/>
                    <a:pt x="0" y="2826550"/>
                    <a:pt x="0" y="281311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DD56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875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-6768597" y="2628077"/>
            <a:ext cx="11422547" cy="5030847"/>
            <a:chOff x="0" y="0"/>
            <a:chExt cx="3008407" cy="13249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08407" cy="1324997"/>
            </a:xfrm>
            <a:custGeom>
              <a:avLst/>
              <a:gdLst/>
              <a:ahLst/>
              <a:cxnLst/>
              <a:rect l="l" t="t" r="r" b="b"/>
              <a:pathLst>
                <a:path w="3008407" h="1324997">
                  <a:moveTo>
                    <a:pt x="0" y="0"/>
                  </a:moveTo>
                  <a:lnTo>
                    <a:pt x="3008407" y="0"/>
                  </a:lnTo>
                  <a:lnTo>
                    <a:pt x="3008407" y="1324997"/>
                  </a:lnTo>
                  <a:lnTo>
                    <a:pt x="0" y="1324997"/>
                  </a:lnTo>
                  <a:close/>
                </a:path>
              </a:pathLst>
            </a:custGeom>
            <a:solidFill>
              <a:srgbClr val="C8DDF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008407" cy="1363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445106" y="3383088"/>
            <a:ext cx="673331" cy="4114800"/>
          </a:xfrm>
          <a:custGeom>
            <a:avLst/>
            <a:gdLst/>
            <a:ahLst/>
            <a:cxnLst/>
            <a:rect l="l" t="t" r="r" b="b"/>
            <a:pathLst>
              <a:path w="673331" h="4114800">
                <a:moveTo>
                  <a:pt x="0" y="0"/>
                </a:moveTo>
                <a:lnTo>
                  <a:pt x="673331" y="0"/>
                </a:lnTo>
                <a:lnTo>
                  <a:pt x="6733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894180" y="8313555"/>
            <a:ext cx="4213489" cy="2750259"/>
          </a:xfrm>
          <a:custGeom>
            <a:avLst/>
            <a:gdLst/>
            <a:ahLst/>
            <a:cxnLst/>
            <a:rect l="l" t="t" r="r" b="b"/>
            <a:pathLst>
              <a:path w="4213489" h="2750259">
                <a:moveTo>
                  <a:pt x="0" y="0"/>
                </a:moveTo>
                <a:lnTo>
                  <a:pt x="4213489" y="0"/>
                </a:lnTo>
                <a:lnTo>
                  <a:pt x="4213489" y="2750259"/>
                </a:lnTo>
                <a:lnTo>
                  <a:pt x="0" y="2750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V="1">
            <a:off x="14894180" y="-767346"/>
            <a:ext cx="4213489" cy="2750259"/>
          </a:xfrm>
          <a:custGeom>
            <a:avLst/>
            <a:gdLst/>
            <a:ahLst/>
            <a:cxnLst/>
            <a:rect l="l" t="t" r="r" b="b"/>
            <a:pathLst>
              <a:path w="4213489" h="2750259">
                <a:moveTo>
                  <a:pt x="0" y="2750259"/>
                </a:moveTo>
                <a:lnTo>
                  <a:pt x="4213489" y="2750259"/>
                </a:lnTo>
                <a:lnTo>
                  <a:pt x="4213489" y="0"/>
                </a:lnTo>
                <a:lnTo>
                  <a:pt x="0" y="0"/>
                </a:lnTo>
                <a:lnTo>
                  <a:pt x="0" y="275025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543800" y="559670"/>
            <a:ext cx="8297704" cy="3007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9501" b="1" spc="-418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Definisi</a:t>
            </a:r>
            <a:r>
              <a:rPr lang="en-US" sz="9501" b="1" spc="-418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dan </a:t>
            </a:r>
            <a:r>
              <a:rPr lang="en-US" sz="9501" b="1" spc="-418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Karakteristik</a:t>
            </a:r>
            <a:r>
              <a:rPr lang="en-US" sz="9501" b="1" spc="-418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9501" b="1" spc="-418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Proyek</a:t>
            </a:r>
            <a:r>
              <a:rPr lang="en-US" sz="9501" b="1" spc="-418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61492" y="6203065"/>
            <a:ext cx="11365016" cy="1400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50" indent="-514350" algn="just">
              <a:lnSpc>
                <a:spcPts val="3651"/>
              </a:lnSpc>
              <a:buAutoNum type="arabicPeriod"/>
            </a:pP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Apa yang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dimaksud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dengan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Manajemen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Proyek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?</a:t>
            </a:r>
          </a:p>
          <a:p>
            <a:pPr marL="514350" indent="-514350" algn="just">
              <a:lnSpc>
                <a:spcPts val="3651"/>
              </a:lnSpc>
              <a:buAutoNum type="arabicPeriod"/>
            </a:pP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Metode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manajemen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proyek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apa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yang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muncul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dalam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jurnal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tersebut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?  </a:t>
            </a:r>
          </a:p>
          <a:p>
            <a:pPr marL="514350" indent="-514350" algn="just">
              <a:lnSpc>
                <a:spcPts val="3651"/>
              </a:lnSpc>
              <a:buAutoNum type="arabicPeriod"/>
            </a:pPr>
            <a:endParaRPr lang="en-US" sz="2607" spc="-88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468636" y="4030949"/>
            <a:ext cx="11357873" cy="1400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51"/>
              </a:lnSpc>
            </a:pP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Pelajari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dan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baca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mengenai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jurnal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yang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telah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dibagikan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just">
              <a:lnSpc>
                <a:spcPts val="3651"/>
              </a:lnSpc>
            </a:pP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Berikan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pendapat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dan Kesimpulan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menurut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versimu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dan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jawab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pertanyaan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dibawah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ini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berdasarkan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hasil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Analisa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membaca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jurnal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07" spc="-8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tersebut</a:t>
            </a:r>
            <a:r>
              <a:rPr lang="en-US" sz="2607" spc="-8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</a:p>
        </p:txBody>
      </p:sp>
      <p:sp>
        <p:nvSpPr>
          <p:cNvPr id="14" name="Freeform 14"/>
          <p:cNvSpPr/>
          <p:nvPr/>
        </p:nvSpPr>
        <p:spPr>
          <a:xfrm>
            <a:off x="-1731957" y="3383088"/>
            <a:ext cx="2760657" cy="4114800"/>
          </a:xfrm>
          <a:custGeom>
            <a:avLst/>
            <a:gdLst/>
            <a:ahLst/>
            <a:cxnLst/>
            <a:rect l="l" t="t" r="r" b="b"/>
            <a:pathLst>
              <a:path w="2760657" h="4114800">
                <a:moveTo>
                  <a:pt x="0" y="0"/>
                </a:moveTo>
                <a:lnTo>
                  <a:pt x="2760657" y="0"/>
                </a:lnTo>
                <a:lnTo>
                  <a:pt x="27606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173320"/>
            <a:ext cx="16230600" cy="10773410"/>
            <a:chOff x="0" y="0"/>
            <a:chExt cx="4274726" cy="28374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837441"/>
            </a:xfrm>
            <a:custGeom>
              <a:avLst/>
              <a:gdLst/>
              <a:ahLst/>
              <a:cxnLst/>
              <a:rect l="l" t="t" r="r" b="b"/>
              <a:pathLst>
                <a:path w="4274726" h="2837441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813114"/>
                  </a:lnTo>
                  <a:cubicBezTo>
                    <a:pt x="4274726" y="2826550"/>
                    <a:pt x="4263834" y="2837441"/>
                    <a:pt x="4250399" y="2837441"/>
                  </a:cubicBezTo>
                  <a:lnTo>
                    <a:pt x="24327" y="2837441"/>
                  </a:lnTo>
                  <a:cubicBezTo>
                    <a:pt x="10891" y="2837441"/>
                    <a:pt x="0" y="2826550"/>
                    <a:pt x="0" y="281311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DD56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875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-6768597" y="2628077"/>
            <a:ext cx="11422547" cy="5030847"/>
            <a:chOff x="0" y="0"/>
            <a:chExt cx="3008407" cy="13249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08407" cy="1324997"/>
            </a:xfrm>
            <a:custGeom>
              <a:avLst/>
              <a:gdLst/>
              <a:ahLst/>
              <a:cxnLst/>
              <a:rect l="l" t="t" r="r" b="b"/>
              <a:pathLst>
                <a:path w="3008407" h="1324997">
                  <a:moveTo>
                    <a:pt x="0" y="0"/>
                  </a:moveTo>
                  <a:lnTo>
                    <a:pt x="3008407" y="0"/>
                  </a:lnTo>
                  <a:lnTo>
                    <a:pt x="3008407" y="1324997"/>
                  </a:lnTo>
                  <a:lnTo>
                    <a:pt x="0" y="1324997"/>
                  </a:lnTo>
                  <a:close/>
                </a:path>
              </a:pathLst>
            </a:custGeom>
            <a:solidFill>
              <a:srgbClr val="FDD56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008407" cy="1363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445106" y="3383088"/>
            <a:ext cx="673331" cy="4114800"/>
          </a:xfrm>
          <a:custGeom>
            <a:avLst/>
            <a:gdLst/>
            <a:ahLst/>
            <a:cxnLst/>
            <a:rect l="l" t="t" r="r" b="b"/>
            <a:pathLst>
              <a:path w="673331" h="4114800">
                <a:moveTo>
                  <a:pt x="0" y="0"/>
                </a:moveTo>
                <a:lnTo>
                  <a:pt x="673331" y="0"/>
                </a:lnTo>
                <a:lnTo>
                  <a:pt x="6733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894180" y="8313555"/>
            <a:ext cx="4213489" cy="2750259"/>
          </a:xfrm>
          <a:custGeom>
            <a:avLst/>
            <a:gdLst/>
            <a:ahLst/>
            <a:cxnLst/>
            <a:rect l="l" t="t" r="r" b="b"/>
            <a:pathLst>
              <a:path w="4213489" h="2750259">
                <a:moveTo>
                  <a:pt x="0" y="0"/>
                </a:moveTo>
                <a:lnTo>
                  <a:pt x="4213489" y="0"/>
                </a:lnTo>
                <a:lnTo>
                  <a:pt x="4213489" y="2750259"/>
                </a:lnTo>
                <a:lnTo>
                  <a:pt x="0" y="2750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V="1">
            <a:off x="14894180" y="-767346"/>
            <a:ext cx="4213489" cy="2750259"/>
          </a:xfrm>
          <a:custGeom>
            <a:avLst/>
            <a:gdLst/>
            <a:ahLst/>
            <a:cxnLst/>
            <a:rect l="l" t="t" r="r" b="b"/>
            <a:pathLst>
              <a:path w="4213489" h="2750259">
                <a:moveTo>
                  <a:pt x="0" y="2750259"/>
                </a:moveTo>
                <a:lnTo>
                  <a:pt x="4213489" y="2750259"/>
                </a:lnTo>
                <a:lnTo>
                  <a:pt x="4213489" y="0"/>
                </a:lnTo>
                <a:lnTo>
                  <a:pt x="0" y="0"/>
                </a:lnTo>
                <a:lnTo>
                  <a:pt x="0" y="275025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216148" y="613799"/>
            <a:ext cx="8297704" cy="3007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9501" b="1" spc="-418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Pengertian</a:t>
            </a:r>
            <a:r>
              <a:rPr lang="en-US" sz="9501" b="1" spc="-418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9501" b="1" spc="-418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Manajemen</a:t>
            </a:r>
            <a:r>
              <a:rPr lang="en-US" sz="9501" b="1" spc="-418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9501" b="1" spc="-418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Proyek</a:t>
            </a:r>
            <a:r>
              <a:rPr lang="en-US" sz="9501" b="1" spc="-418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33977" y="4318050"/>
            <a:ext cx="10220045" cy="428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ID" sz="3600" dirty="0" err="1">
                <a:latin typeface="Aptos" panose="020B0004020202020204" pitchFamily="34" charset="0"/>
              </a:rPr>
              <a:t>Manajemen</a:t>
            </a:r>
            <a:r>
              <a:rPr lang="en-ID" sz="3600" dirty="0">
                <a:latin typeface="Aptos" panose="020B0004020202020204" pitchFamily="34" charset="0"/>
              </a:rPr>
              <a:t> </a:t>
            </a:r>
            <a:r>
              <a:rPr lang="en-ID" sz="3600" dirty="0" err="1">
                <a:latin typeface="Aptos" panose="020B0004020202020204" pitchFamily="34" charset="0"/>
              </a:rPr>
              <a:t>Proyek</a:t>
            </a:r>
            <a:r>
              <a:rPr lang="en-ID" sz="3600" dirty="0">
                <a:latin typeface="Aptos" panose="020B0004020202020204" pitchFamily="34" charset="0"/>
              </a:rPr>
              <a:t> </a:t>
            </a:r>
            <a:r>
              <a:rPr lang="en-ID" sz="3600" dirty="0" err="1">
                <a:latin typeface="Aptos" panose="020B0004020202020204" pitchFamily="34" charset="0"/>
              </a:rPr>
              <a:t>adalah</a:t>
            </a:r>
            <a:r>
              <a:rPr lang="en-ID" sz="3600" dirty="0">
                <a:latin typeface="Aptos" panose="020B0004020202020204" pitchFamily="34" charset="0"/>
              </a:rPr>
              <a:t> </a:t>
            </a:r>
            <a:r>
              <a:rPr lang="en-ID" sz="3600" dirty="0" err="1">
                <a:latin typeface="Aptos" panose="020B0004020202020204" pitchFamily="34" charset="0"/>
              </a:rPr>
              <a:t>penerapan</a:t>
            </a:r>
            <a:r>
              <a:rPr lang="en-ID" sz="3600" dirty="0">
                <a:latin typeface="Aptos" panose="020B0004020202020204" pitchFamily="34" charset="0"/>
              </a:rPr>
              <a:t> </a:t>
            </a:r>
            <a:r>
              <a:rPr lang="en-ID" sz="3600" dirty="0" err="1">
                <a:latin typeface="Aptos" panose="020B0004020202020204" pitchFamily="34" charset="0"/>
              </a:rPr>
              <a:t>pengetahuan</a:t>
            </a:r>
            <a:r>
              <a:rPr lang="en-ID" sz="3600" dirty="0">
                <a:latin typeface="Aptos" panose="020B0004020202020204" pitchFamily="34" charset="0"/>
              </a:rPr>
              <a:t>, </a:t>
            </a:r>
            <a:r>
              <a:rPr lang="en-ID" sz="3600" dirty="0" err="1">
                <a:latin typeface="Aptos" panose="020B0004020202020204" pitchFamily="34" charset="0"/>
              </a:rPr>
              <a:t>keterampilan</a:t>
            </a:r>
            <a:r>
              <a:rPr lang="en-ID" sz="3600" dirty="0">
                <a:latin typeface="Aptos" panose="020B0004020202020204" pitchFamily="34" charset="0"/>
              </a:rPr>
              <a:t>, </a:t>
            </a:r>
            <a:r>
              <a:rPr lang="en-ID" sz="3600" dirty="0" err="1">
                <a:latin typeface="Aptos" panose="020B0004020202020204" pitchFamily="34" charset="0"/>
              </a:rPr>
              <a:t>alat</a:t>
            </a:r>
            <a:r>
              <a:rPr lang="en-ID" sz="3600" dirty="0">
                <a:latin typeface="Aptos" panose="020B0004020202020204" pitchFamily="34" charset="0"/>
              </a:rPr>
              <a:t>, dan </a:t>
            </a:r>
            <a:r>
              <a:rPr lang="en-ID" sz="3600" dirty="0" err="1">
                <a:latin typeface="Aptos" panose="020B0004020202020204" pitchFamily="34" charset="0"/>
              </a:rPr>
              <a:t>teknik</a:t>
            </a:r>
            <a:r>
              <a:rPr lang="en-ID" sz="3600" dirty="0">
                <a:latin typeface="Aptos" panose="020B0004020202020204" pitchFamily="34" charset="0"/>
              </a:rPr>
              <a:t> pada </a:t>
            </a:r>
            <a:r>
              <a:rPr lang="en-ID" sz="3600" dirty="0" err="1">
                <a:latin typeface="Aptos" panose="020B0004020202020204" pitchFamily="34" charset="0"/>
              </a:rPr>
              <a:t>aktivitas</a:t>
            </a:r>
            <a:r>
              <a:rPr lang="en-ID" sz="3600" dirty="0">
                <a:latin typeface="Aptos" panose="020B0004020202020204" pitchFamily="34" charset="0"/>
              </a:rPr>
              <a:t> </a:t>
            </a:r>
            <a:r>
              <a:rPr lang="en-ID" sz="3600" dirty="0" err="1">
                <a:latin typeface="Aptos" panose="020B0004020202020204" pitchFamily="34" charset="0"/>
              </a:rPr>
              <a:t>proyek</a:t>
            </a:r>
            <a:r>
              <a:rPr lang="en-ID" sz="3600" dirty="0">
                <a:latin typeface="Aptos" panose="020B0004020202020204" pitchFamily="34" charset="0"/>
              </a:rPr>
              <a:t> </a:t>
            </a:r>
            <a:r>
              <a:rPr lang="en-ID" sz="3600" dirty="0" err="1">
                <a:latin typeface="Aptos" panose="020B0004020202020204" pitchFamily="34" charset="0"/>
              </a:rPr>
              <a:t>untuk</a:t>
            </a:r>
            <a:r>
              <a:rPr lang="en-ID" sz="3600" dirty="0">
                <a:latin typeface="Aptos" panose="020B0004020202020204" pitchFamily="34" charset="0"/>
              </a:rPr>
              <a:t> </a:t>
            </a:r>
            <a:r>
              <a:rPr lang="en-ID" sz="3600" dirty="0" err="1">
                <a:latin typeface="Aptos" panose="020B0004020202020204" pitchFamily="34" charset="0"/>
              </a:rPr>
              <a:t>memenuhi</a:t>
            </a:r>
            <a:r>
              <a:rPr lang="en-ID" sz="3600" dirty="0">
                <a:latin typeface="Aptos" panose="020B0004020202020204" pitchFamily="34" charset="0"/>
              </a:rPr>
              <a:t> </a:t>
            </a:r>
            <a:r>
              <a:rPr lang="en-ID" sz="3600" dirty="0" err="1">
                <a:latin typeface="Aptos" panose="020B0004020202020204" pitchFamily="34" charset="0"/>
              </a:rPr>
              <a:t>persyaratan</a:t>
            </a:r>
            <a:r>
              <a:rPr lang="en-ID" sz="3600" dirty="0">
                <a:latin typeface="Aptos" panose="020B0004020202020204" pitchFamily="34" charset="0"/>
              </a:rPr>
              <a:t> </a:t>
            </a:r>
            <a:r>
              <a:rPr lang="en-ID" sz="3600" dirty="0" err="1">
                <a:latin typeface="Aptos" panose="020B0004020202020204" pitchFamily="34" charset="0"/>
              </a:rPr>
              <a:t>proyek</a:t>
            </a:r>
            <a:r>
              <a:rPr lang="en-ID" sz="3600" dirty="0">
                <a:latin typeface="Aptos" panose="020B0004020202020204" pitchFamily="34" charset="0"/>
              </a:rPr>
              <a:t>. </a:t>
            </a:r>
            <a:r>
              <a:rPr lang="en-ID" sz="3600" dirty="0" err="1">
                <a:latin typeface="Aptos" panose="020B0004020202020204" pitchFamily="34" charset="0"/>
              </a:rPr>
              <a:t>Manajer</a:t>
            </a:r>
            <a:r>
              <a:rPr lang="en-ID" sz="3600" dirty="0">
                <a:latin typeface="Aptos" panose="020B0004020202020204" pitchFamily="34" charset="0"/>
              </a:rPr>
              <a:t> </a:t>
            </a:r>
            <a:r>
              <a:rPr lang="en-ID" sz="3600" dirty="0" err="1">
                <a:latin typeface="Aptos" panose="020B0004020202020204" pitchFamily="34" charset="0"/>
              </a:rPr>
              <a:t>proyek</a:t>
            </a:r>
            <a:r>
              <a:rPr lang="en-ID" sz="3600" dirty="0">
                <a:latin typeface="Aptos" panose="020B0004020202020204" pitchFamily="34" charset="0"/>
              </a:rPr>
              <a:t> </a:t>
            </a:r>
            <a:r>
              <a:rPr lang="en-ID" sz="3600" dirty="0" err="1">
                <a:latin typeface="Aptos" panose="020B0004020202020204" pitchFamily="34" charset="0"/>
              </a:rPr>
              <a:t>bekerja</a:t>
            </a:r>
            <a:r>
              <a:rPr lang="en-ID" sz="3600" dirty="0">
                <a:latin typeface="Aptos" panose="020B0004020202020204" pitchFamily="34" charset="0"/>
              </a:rPr>
              <a:t> </a:t>
            </a:r>
            <a:r>
              <a:rPr lang="en-ID" sz="3600" dirty="0" err="1">
                <a:latin typeface="Aptos" panose="020B0004020202020204" pitchFamily="34" charset="0"/>
              </a:rPr>
              <a:t>untuk</a:t>
            </a:r>
            <a:r>
              <a:rPr lang="en-ID" sz="3600" dirty="0">
                <a:latin typeface="Aptos" panose="020B0004020202020204" pitchFamily="34" charset="0"/>
              </a:rPr>
              <a:t> </a:t>
            </a:r>
            <a:r>
              <a:rPr lang="en-ID" sz="3600" dirty="0" err="1">
                <a:latin typeface="Aptos" panose="020B0004020202020204" pitchFamily="34" charset="0"/>
              </a:rPr>
              <a:t>menyeimbangkan</a:t>
            </a:r>
            <a:r>
              <a:rPr lang="en-ID" sz="3600" dirty="0">
                <a:latin typeface="Aptos" panose="020B0004020202020204" pitchFamily="34" charset="0"/>
              </a:rPr>
              <a:t> </a:t>
            </a:r>
            <a:r>
              <a:rPr lang="en-ID" sz="3600" dirty="0" err="1">
                <a:latin typeface="Aptos" panose="020B0004020202020204" pitchFamily="34" charset="0"/>
              </a:rPr>
              <a:t>batasan</a:t>
            </a:r>
            <a:r>
              <a:rPr lang="en-ID" sz="3600" dirty="0">
                <a:latin typeface="Aptos" panose="020B0004020202020204" pitchFamily="34" charset="0"/>
              </a:rPr>
              <a:t> yang </a:t>
            </a:r>
            <a:r>
              <a:rPr lang="en-ID" sz="3600" dirty="0" err="1">
                <a:latin typeface="Aptos" panose="020B0004020202020204" pitchFamily="34" charset="0"/>
              </a:rPr>
              <a:t>saling</a:t>
            </a:r>
            <a:r>
              <a:rPr lang="en-ID" sz="3600" dirty="0">
                <a:latin typeface="Aptos" panose="020B0004020202020204" pitchFamily="34" charset="0"/>
              </a:rPr>
              <a:t> </a:t>
            </a:r>
            <a:r>
              <a:rPr lang="en-ID" sz="3600" dirty="0" err="1">
                <a:latin typeface="Aptos" panose="020B0004020202020204" pitchFamily="34" charset="0"/>
              </a:rPr>
              <a:t>bersaing</a:t>
            </a:r>
            <a:r>
              <a:rPr lang="en-ID" sz="3600" dirty="0">
                <a:latin typeface="Aptos" panose="020B0004020202020204" pitchFamily="34" charset="0"/>
              </a:rPr>
              <a:t>, </a:t>
            </a:r>
            <a:r>
              <a:rPr lang="en-ID" sz="3600" dirty="0" err="1">
                <a:latin typeface="Aptos" panose="020B0004020202020204" pitchFamily="34" charset="0"/>
              </a:rPr>
              <a:t>yaitu</a:t>
            </a:r>
            <a:r>
              <a:rPr lang="en-ID" sz="3600" dirty="0">
                <a:latin typeface="Aptos" panose="020B0004020202020204" pitchFamily="34" charset="0"/>
              </a:rPr>
              <a:t>: </a:t>
            </a:r>
            <a:r>
              <a:rPr lang="en-ID" sz="3600" b="1" dirty="0">
                <a:latin typeface="Aptos" panose="020B0004020202020204" pitchFamily="34" charset="0"/>
              </a:rPr>
              <a:t>Ruang </a:t>
            </a:r>
            <a:r>
              <a:rPr lang="en-ID" sz="3600" b="1" dirty="0" err="1">
                <a:latin typeface="Aptos" panose="020B0004020202020204" pitchFamily="34" charset="0"/>
              </a:rPr>
              <a:t>Lingkup</a:t>
            </a:r>
            <a:r>
              <a:rPr lang="en-ID" sz="3600" b="1" dirty="0">
                <a:latin typeface="Aptos" panose="020B0004020202020204" pitchFamily="34" charset="0"/>
              </a:rPr>
              <a:t> (Scope)</a:t>
            </a:r>
            <a:r>
              <a:rPr lang="en-ID" sz="3600" dirty="0">
                <a:latin typeface="Aptos" panose="020B0004020202020204" pitchFamily="34" charset="0"/>
              </a:rPr>
              <a:t>, </a:t>
            </a:r>
            <a:r>
              <a:rPr lang="en-ID" sz="3600" b="1" dirty="0">
                <a:latin typeface="Aptos" panose="020B0004020202020204" pitchFamily="34" charset="0"/>
              </a:rPr>
              <a:t>Waktu (Time)</a:t>
            </a:r>
            <a:r>
              <a:rPr lang="en-ID" sz="3600" dirty="0">
                <a:latin typeface="Aptos" panose="020B0004020202020204" pitchFamily="34" charset="0"/>
              </a:rPr>
              <a:t>, dan </a:t>
            </a:r>
            <a:r>
              <a:rPr lang="en-ID" sz="3600" b="1" dirty="0" err="1">
                <a:latin typeface="Aptos" panose="020B0004020202020204" pitchFamily="34" charset="0"/>
              </a:rPr>
              <a:t>Biaya</a:t>
            </a:r>
            <a:r>
              <a:rPr lang="en-ID" sz="3600" b="1" dirty="0">
                <a:latin typeface="Aptos" panose="020B0004020202020204" pitchFamily="34" charset="0"/>
              </a:rPr>
              <a:t> (Cost)</a:t>
            </a:r>
            <a:r>
              <a:rPr lang="en-ID" sz="3600" dirty="0">
                <a:latin typeface="Aptos" panose="020B0004020202020204" pitchFamily="34" charset="0"/>
              </a:rPr>
              <a:t>.</a:t>
            </a:r>
            <a:endParaRPr lang="en-US" sz="3600" spc="-115" dirty="0">
              <a:solidFill>
                <a:srgbClr val="000000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-1731957" y="3383088"/>
            <a:ext cx="2760657" cy="4114800"/>
          </a:xfrm>
          <a:custGeom>
            <a:avLst/>
            <a:gdLst/>
            <a:ahLst/>
            <a:cxnLst/>
            <a:rect l="l" t="t" r="r" b="b"/>
            <a:pathLst>
              <a:path w="2760657" h="4114800">
                <a:moveTo>
                  <a:pt x="0" y="0"/>
                </a:moveTo>
                <a:lnTo>
                  <a:pt x="2760657" y="0"/>
                </a:lnTo>
                <a:lnTo>
                  <a:pt x="27606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0AE9C-9FB6-ABF9-6FEE-E3CEA61C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DE14731-5ABE-F0BC-CC52-EB251C3E6DEA}"/>
              </a:ext>
            </a:extLst>
          </p:cNvPr>
          <p:cNvGrpSpPr/>
          <p:nvPr/>
        </p:nvGrpSpPr>
        <p:grpSpPr>
          <a:xfrm>
            <a:off x="1028700" y="-173320"/>
            <a:ext cx="16230600" cy="10773410"/>
            <a:chOff x="0" y="0"/>
            <a:chExt cx="4274726" cy="283744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72AEFFF-24A0-1B9D-D3D5-F7BF7759E309}"/>
                </a:ext>
              </a:extLst>
            </p:cNvPr>
            <p:cNvSpPr/>
            <p:nvPr/>
          </p:nvSpPr>
          <p:spPr>
            <a:xfrm>
              <a:off x="0" y="0"/>
              <a:ext cx="4274726" cy="2837441"/>
            </a:xfrm>
            <a:custGeom>
              <a:avLst/>
              <a:gdLst/>
              <a:ahLst/>
              <a:cxnLst/>
              <a:rect l="l" t="t" r="r" b="b"/>
              <a:pathLst>
                <a:path w="4274726" h="2837441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813114"/>
                  </a:lnTo>
                  <a:cubicBezTo>
                    <a:pt x="4274726" y="2826550"/>
                    <a:pt x="4263834" y="2837441"/>
                    <a:pt x="4250399" y="2837441"/>
                  </a:cubicBezTo>
                  <a:lnTo>
                    <a:pt x="24327" y="2837441"/>
                  </a:lnTo>
                  <a:cubicBezTo>
                    <a:pt x="10891" y="2837441"/>
                    <a:pt x="0" y="2826550"/>
                    <a:pt x="0" y="281311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DD56F"/>
              </a:solidFill>
              <a:prstDash val="solid"/>
              <a:round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7E17668-9094-5ACF-9074-0ABA25F5F35D}"/>
                </a:ext>
              </a:extLst>
            </p:cNvPr>
            <p:cNvSpPr txBox="1"/>
            <p:nvPr/>
          </p:nvSpPr>
          <p:spPr>
            <a:xfrm>
              <a:off x="0" y="-38100"/>
              <a:ext cx="4274726" cy="2875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FDADC6DC-6E48-3B47-BF28-EF053BCD8FDF}"/>
              </a:ext>
            </a:extLst>
          </p:cNvPr>
          <p:cNvGrpSpPr/>
          <p:nvPr/>
        </p:nvGrpSpPr>
        <p:grpSpPr>
          <a:xfrm rot="-5400000">
            <a:off x="-6768597" y="2628077"/>
            <a:ext cx="11422547" cy="5030847"/>
            <a:chOff x="0" y="0"/>
            <a:chExt cx="3008407" cy="132499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1E8AE58-1916-715E-E19B-2400F66A757C}"/>
                </a:ext>
              </a:extLst>
            </p:cNvPr>
            <p:cNvSpPr/>
            <p:nvPr/>
          </p:nvSpPr>
          <p:spPr>
            <a:xfrm>
              <a:off x="0" y="0"/>
              <a:ext cx="3008407" cy="1324997"/>
            </a:xfrm>
            <a:custGeom>
              <a:avLst/>
              <a:gdLst/>
              <a:ahLst/>
              <a:cxnLst/>
              <a:rect l="l" t="t" r="r" b="b"/>
              <a:pathLst>
                <a:path w="3008407" h="1324997">
                  <a:moveTo>
                    <a:pt x="0" y="0"/>
                  </a:moveTo>
                  <a:lnTo>
                    <a:pt x="3008407" y="0"/>
                  </a:lnTo>
                  <a:lnTo>
                    <a:pt x="3008407" y="1324997"/>
                  </a:lnTo>
                  <a:lnTo>
                    <a:pt x="0" y="1324997"/>
                  </a:lnTo>
                  <a:close/>
                </a:path>
              </a:pathLst>
            </a:custGeom>
            <a:solidFill>
              <a:srgbClr val="FDD56F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0EC63AE-BBF5-5D22-7560-A5EA24B9E2D3}"/>
                </a:ext>
              </a:extLst>
            </p:cNvPr>
            <p:cNvSpPr txBox="1"/>
            <p:nvPr/>
          </p:nvSpPr>
          <p:spPr>
            <a:xfrm>
              <a:off x="0" y="-38100"/>
              <a:ext cx="3008407" cy="1363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CC769824-E6C9-80F6-3081-D85E362380B6}"/>
              </a:ext>
            </a:extLst>
          </p:cNvPr>
          <p:cNvSpPr/>
          <p:nvPr/>
        </p:nvSpPr>
        <p:spPr>
          <a:xfrm>
            <a:off x="17445106" y="3383088"/>
            <a:ext cx="673331" cy="4114800"/>
          </a:xfrm>
          <a:custGeom>
            <a:avLst/>
            <a:gdLst/>
            <a:ahLst/>
            <a:cxnLst/>
            <a:rect l="l" t="t" r="r" b="b"/>
            <a:pathLst>
              <a:path w="673331" h="4114800">
                <a:moveTo>
                  <a:pt x="0" y="0"/>
                </a:moveTo>
                <a:lnTo>
                  <a:pt x="673331" y="0"/>
                </a:lnTo>
                <a:lnTo>
                  <a:pt x="6733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49FA4D55-9C7B-A2BE-5A4C-308EF4D58F73}"/>
              </a:ext>
            </a:extLst>
          </p:cNvPr>
          <p:cNvSpPr/>
          <p:nvPr/>
        </p:nvSpPr>
        <p:spPr>
          <a:xfrm>
            <a:off x="14894180" y="8313555"/>
            <a:ext cx="4213489" cy="2750259"/>
          </a:xfrm>
          <a:custGeom>
            <a:avLst/>
            <a:gdLst/>
            <a:ahLst/>
            <a:cxnLst/>
            <a:rect l="l" t="t" r="r" b="b"/>
            <a:pathLst>
              <a:path w="4213489" h="2750259">
                <a:moveTo>
                  <a:pt x="0" y="0"/>
                </a:moveTo>
                <a:lnTo>
                  <a:pt x="4213489" y="0"/>
                </a:lnTo>
                <a:lnTo>
                  <a:pt x="4213489" y="2750259"/>
                </a:lnTo>
                <a:lnTo>
                  <a:pt x="0" y="2750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1E7287A-DA1D-4D66-B795-C21CE6EDE097}"/>
              </a:ext>
            </a:extLst>
          </p:cNvPr>
          <p:cNvSpPr/>
          <p:nvPr/>
        </p:nvSpPr>
        <p:spPr>
          <a:xfrm flipV="1">
            <a:off x="14894180" y="-767346"/>
            <a:ext cx="4213489" cy="2750259"/>
          </a:xfrm>
          <a:custGeom>
            <a:avLst/>
            <a:gdLst/>
            <a:ahLst/>
            <a:cxnLst/>
            <a:rect l="l" t="t" r="r" b="b"/>
            <a:pathLst>
              <a:path w="4213489" h="2750259">
                <a:moveTo>
                  <a:pt x="0" y="2750259"/>
                </a:moveTo>
                <a:lnTo>
                  <a:pt x="4213489" y="2750259"/>
                </a:lnTo>
                <a:lnTo>
                  <a:pt x="4213489" y="0"/>
                </a:lnTo>
                <a:lnTo>
                  <a:pt x="0" y="0"/>
                </a:lnTo>
                <a:lnTo>
                  <a:pt x="0" y="275025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E547A3F-F3AD-38CA-6323-09F52382A3C5}"/>
              </a:ext>
            </a:extLst>
          </p:cNvPr>
          <p:cNvSpPr/>
          <p:nvPr/>
        </p:nvSpPr>
        <p:spPr>
          <a:xfrm>
            <a:off x="-1731957" y="3383088"/>
            <a:ext cx="2760657" cy="4114800"/>
          </a:xfrm>
          <a:custGeom>
            <a:avLst/>
            <a:gdLst/>
            <a:ahLst/>
            <a:cxnLst/>
            <a:rect l="l" t="t" r="r" b="b"/>
            <a:pathLst>
              <a:path w="2760657" h="4114800">
                <a:moveTo>
                  <a:pt x="0" y="0"/>
                </a:moveTo>
                <a:lnTo>
                  <a:pt x="2760657" y="0"/>
                </a:lnTo>
                <a:lnTo>
                  <a:pt x="27606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B938BC4-4DC2-F2A3-1819-4280DF9F25F4}"/>
              </a:ext>
            </a:extLst>
          </p:cNvPr>
          <p:cNvSpPr txBox="1"/>
          <p:nvPr/>
        </p:nvSpPr>
        <p:spPr>
          <a:xfrm>
            <a:off x="4995148" y="1679316"/>
            <a:ext cx="8297704" cy="1058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9501" b="1" spc="-418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Menurut</a:t>
            </a:r>
            <a:r>
              <a:rPr lang="en-US" sz="9501" b="1" spc="-418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Ahli : 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332C777-A230-2B65-4A0A-A0F278A87B19}"/>
              </a:ext>
            </a:extLst>
          </p:cNvPr>
          <p:cNvSpPr txBox="1"/>
          <p:nvPr/>
        </p:nvSpPr>
        <p:spPr>
          <a:xfrm>
            <a:off x="3946135" y="7536033"/>
            <a:ext cx="10948045" cy="2088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71"/>
              </a:lnSpc>
            </a:pPr>
            <a:r>
              <a:rPr lang="en-ID" sz="3200" dirty="0" err="1">
                <a:latin typeface="DM Sans" pitchFamily="2" charset="0"/>
              </a:rPr>
              <a:t>manajemen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proyek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adalah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suatu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pendekatan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atau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metode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untuk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mengelola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proyek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secara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efektif</a:t>
            </a:r>
            <a:r>
              <a:rPr lang="en-ID" sz="3200" dirty="0">
                <a:latin typeface="DM Sans" pitchFamily="2" charset="0"/>
              </a:rPr>
              <a:t> dan </a:t>
            </a:r>
            <a:r>
              <a:rPr lang="en-ID" sz="3200" dirty="0" err="1">
                <a:latin typeface="DM Sans" pitchFamily="2" charset="0"/>
              </a:rPr>
              <a:t>efisien</a:t>
            </a:r>
            <a:r>
              <a:rPr lang="en-ID" sz="3200" dirty="0">
                <a:latin typeface="DM Sans" pitchFamily="2" charset="0"/>
              </a:rPr>
              <a:t>. </a:t>
            </a:r>
            <a:r>
              <a:rPr lang="en-ID" sz="3200" dirty="0" err="1">
                <a:latin typeface="DM Sans" pitchFamily="2" charset="0"/>
              </a:rPr>
              <a:t>Sistem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berfungsi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sebagai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alat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untuk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mengelola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kegiatan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berupa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proyek</a:t>
            </a:r>
            <a:r>
              <a:rPr lang="en-ID" sz="3200" dirty="0">
                <a:latin typeface="DM Sans" pitchFamily="2" charset="0"/>
              </a:rPr>
              <a:t>.</a:t>
            </a:r>
            <a:endParaRPr lang="en-US" sz="2908" spc="-98" dirty="0">
              <a:solidFill>
                <a:srgbClr val="000000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5B0A38-60A9-AD42-1094-6A97F8B81D78}"/>
              </a:ext>
            </a:extLst>
          </p:cNvPr>
          <p:cNvSpPr txBox="1"/>
          <p:nvPr/>
        </p:nvSpPr>
        <p:spPr>
          <a:xfrm>
            <a:off x="3847463" y="3040771"/>
            <a:ext cx="11022474" cy="419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71"/>
              </a:lnSpc>
            </a:pPr>
            <a:r>
              <a:rPr lang="en-ID" sz="3200" dirty="0" err="1">
                <a:latin typeface="DM Sans" pitchFamily="2" charset="0"/>
              </a:rPr>
              <a:t>Proyek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didefinisikan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sebagai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serangkaian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kegiatan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unik</a:t>
            </a:r>
            <a:r>
              <a:rPr lang="en-ID" sz="3200" dirty="0">
                <a:latin typeface="DM Sans" pitchFamily="2" charset="0"/>
              </a:rPr>
              <a:t> yang </a:t>
            </a:r>
            <a:r>
              <a:rPr lang="en-ID" sz="3200" dirty="0" err="1">
                <a:latin typeface="DM Sans" pitchFamily="2" charset="0"/>
              </a:rPr>
              <a:t>dihubungkan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bersama</a:t>
            </a:r>
            <a:r>
              <a:rPr lang="en-ID" sz="3200" dirty="0">
                <a:latin typeface="DM Sans" pitchFamily="2" charset="0"/>
              </a:rPr>
              <a:t> dan </a:t>
            </a:r>
            <a:r>
              <a:rPr lang="en-ID" sz="3200" dirty="0" err="1">
                <a:latin typeface="DM Sans" pitchFamily="2" charset="0"/>
              </a:rPr>
              <a:t>dilakukan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dalam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jangka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waktu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tertentu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untuk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mencapai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hasil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tertentu</a:t>
            </a:r>
            <a:r>
              <a:rPr lang="en-ID" sz="3200" dirty="0">
                <a:latin typeface="DM Sans" pitchFamily="2" charset="0"/>
              </a:rPr>
              <a:t> (Chase (1998). </a:t>
            </a:r>
            <a:r>
              <a:rPr lang="en-ID" sz="3200" dirty="0" err="1">
                <a:latin typeface="DM Sans" pitchFamily="2" charset="0"/>
              </a:rPr>
              <a:t>Proyek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adalah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kombinasi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dari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berbagai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sumber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daya</a:t>
            </a:r>
            <a:r>
              <a:rPr lang="en-ID" sz="3200" dirty="0">
                <a:latin typeface="DM Sans" pitchFamily="2" charset="0"/>
              </a:rPr>
              <a:t> yang </a:t>
            </a:r>
            <a:r>
              <a:rPr lang="en-ID" sz="3200" dirty="0" err="1">
                <a:latin typeface="DM Sans" pitchFamily="2" charset="0"/>
              </a:rPr>
              <a:t>dikumpulkan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dalam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wadah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organisasi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sementara</a:t>
            </a:r>
            <a:r>
              <a:rPr lang="en-ID" sz="3200" dirty="0">
                <a:latin typeface="DM Sans" pitchFamily="2" charset="0"/>
              </a:rPr>
              <a:t> (D.I. Cleland dan W.R. King, 1987) </a:t>
            </a:r>
            <a:r>
              <a:rPr lang="en-ID" sz="3200" dirty="0" err="1">
                <a:latin typeface="DM Sans" pitchFamily="2" charset="0"/>
              </a:rPr>
              <a:t>untuk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mencapai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tujuan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tertentu</a:t>
            </a:r>
            <a:r>
              <a:rPr lang="en-ID" sz="3200" dirty="0">
                <a:latin typeface="DM Sans" pitchFamily="2" charset="0"/>
              </a:rPr>
              <a:t>, </a:t>
            </a:r>
            <a:r>
              <a:rPr lang="en-ID" sz="3200" dirty="0" err="1">
                <a:latin typeface="DM Sans" pitchFamily="2" charset="0"/>
              </a:rPr>
              <a:t>didedikasikan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untuk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menyelesaikan</a:t>
            </a:r>
            <a:r>
              <a:rPr lang="en-ID" sz="3200" dirty="0">
                <a:latin typeface="DM Sans" pitchFamily="2" charset="0"/>
              </a:rPr>
              <a:t> </a:t>
            </a:r>
            <a:r>
              <a:rPr lang="en-ID" sz="3200" dirty="0" err="1">
                <a:latin typeface="DM Sans" pitchFamily="2" charset="0"/>
              </a:rPr>
              <a:t>tugas</a:t>
            </a:r>
            <a:r>
              <a:rPr lang="en-ID" sz="3200" dirty="0">
                <a:latin typeface="DM Sans" pitchFamily="2" charset="0"/>
              </a:rPr>
              <a:t> yang </a:t>
            </a:r>
            <a:r>
              <a:rPr lang="en-ID" sz="3200" dirty="0" err="1">
                <a:latin typeface="DM Sans" pitchFamily="2" charset="0"/>
              </a:rPr>
              <a:t>digariskan</a:t>
            </a:r>
            <a:r>
              <a:rPr lang="en-ID" sz="3200" dirty="0">
                <a:latin typeface="DM Sans" pitchFamily="2" charset="0"/>
              </a:rPr>
              <a:t> (Suharto, I, 1990)</a:t>
            </a:r>
            <a:endParaRPr lang="en-US" sz="2908" spc="-98" dirty="0">
              <a:solidFill>
                <a:srgbClr val="000000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384825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173320"/>
            <a:ext cx="16230600" cy="10773410"/>
            <a:chOff x="0" y="0"/>
            <a:chExt cx="4274726" cy="28374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837441"/>
            </a:xfrm>
            <a:custGeom>
              <a:avLst/>
              <a:gdLst/>
              <a:ahLst/>
              <a:cxnLst/>
              <a:rect l="l" t="t" r="r" b="b"/>
              <a:pathLst>
                <a:path w="4274726" h="2837441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813114"/>
                  </a:lnTo>
                  <a:cubicBezTo>
                    <a:pt x="4274726" y="2826550"/>
                    <a:pt x="4263834" y="2837441"/>
                    <a:pt x="4250399" y="2837441"/>
                  </a:cubicBezTo>
                  <a:lnTo>
                    <a:pt x="24327" y="2837441"/>
                  </a:lnTo>
                  <a:cubicBezTo>
                    <a:pt x="10891" y="2837441"/>
                    <a:pt x="0" y="2826550"/>
                    <a:pt x="0" y="281311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DD56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875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-6768597" y="2628077"/>
            <a:ext cx="11422547" cy="5030847"/>
            <a:chOff x="0" y="0"/>
            <a:chExt cx="3008407" cy="13249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08407" cy="1324997"/>
            </a:xfrm>
            <a:custGeom>
              <a:avLst/>
              <a:gdLst/>
              <a:ahLst/>
              <a:cxnLst/>
              <a:rect l="l" t="t" r="r" b="b"/>
              <a:pathLst>
                <a:path w="3008407" h="1324997">
                  <a:moveTo>
                    <a:pt x="0" y="0"/>
                  </a:moveTo>
                  <a:lnTo>
                    <a:pt x="3008407" y="0"/>
                  </a:lnTo>
                  <a:lnTo>
                    <a:pt x="3008407" y="1324997"/>
                  </a:lnTo>
                  <a:lnTo>
                    <a:pt x="0" y="1324997"/>
                  </a:lnTo>
                  <a:close/>
                </a:path>
              </a:pathLst>
            </a:custGeom>
            <a:solidFill>
              <a:srgbClr val="C8DDF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008407" cy="1363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445106" y="3383088"/>
            <a:ext cx="673331" cy="4114800"/>
          </a:xfrm>
          <a:custGeom>
            <a:avLst/>
            <a:gdLst/>
            <a:ahLst/>
            <a:cxnLst/>
            <a:rect l="l" t="t" r="r" b="b"/>
            <a:pathLst>
              <a:path w="673331" h="4114800">
                <a:moveTo>
                  <a:pt x="0" y="0"/>
                </a:moveTo>
                <a:lnTo>
                  <a:pt x="673331" y="0"/>
                </a:lnTo>
                <a:lnTo>
                  <a:pt x="6733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894180" y="8313555"/>
            <a:ext cx="4213489" cy="2750259"/>
          </a:xfrm>
          <a:custGeom>
            <a:avLst/>
            <a:gdLst/>
            <a:ahLst/>
            <a:cxnLst/>
            <a:rect l="l" t="t" r="r" b="b"/>
            <a:pathLst>
              <a:path w="4213489" h="2750259">
                <a:moveTo>
                  <a:pt x="0" y="0"/>
                </a:moveTo>
                <a:lnTo>
                  <a:pt x="4213489" y="0"/>
                </a:lnTo>
                <a:lnTo>
                  <a:pt x="4213489" y="2750259"/>
                </a:lnTo>
                <a:lnTo>
                  <a:pt x="0" y="2750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V="1">
            <a:off x="14894180" y="-767346"/>
            <a:ext cx="4213489" cy="2750259"/>
          </a:xfrm>
          <a:custGeom>
            <a:avLst/>
            <a:gdLst/>
            <a:ahLst/>
            <a:cxnLst/>
            <a:rect l="l" t="t" r="r" b="b"/>
            <a:pathLst>
              <a:path w="4213489" h="2750259">
                <a:moveTo>
                  <a:pt x="0" y="2750259"/>
                </a:moveTo>
                <a:lnTo>
                  <a:pt x="4213489" y="2750259"/>
                </a:lnTo>
                <a:lnTo>
                  <a:pt x="4213489" y="0"/>
                </a:lnTo>
                <a:lnTo>
                  <a:pt x="0" y="0"/>
                </a:lnTo>
                <a:lnTo>
                  <a:pt x="0" y="275025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995148" y="1679316"/>
            <a:ext cx="8297704" cy="203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9501" b="1" spc="-418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Contoh</a:t>
            </a:r>
            <a:r>
              <a:rPr lang="en-US" sz="9501" b="1" spc="-418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9501" b="1" spc="-418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Proyek</a:t>
            </a:r>
            <a:r>
              <a:rPr lang="en-US" sz="9501" b="1" spc="-418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: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32763" y="4233814"/>
            <a:ext cx="11022474" cy="1026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71"/>
              </a:lnSpc>
            </a:pP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-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Pengembangan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perangkat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lunak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administasi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nilai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mahasiswa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upgrade network pada Perusahaan </a:t>
            </a:r>
          </a:p>
        </p:txBody>
      </p:sp>
      <p:sp>
        <p:nvSpPr>
          <p:cNvPr id="14" name="Freeform 14"/>
          <p:cNvSpPr/>
          <p:nvPr/>
        </p:nvSpPr>
        <p:spPr>
          <a:xfrm>
            <a:off x="-1731957" y="3383088"/>
            <a:ext cx="2760657" cy="4114800"/>
          </a:xfrm>
          <a:custGeom>
            <a:avLst/>
            <a:gdLst/>
            <a:ahLst/>
            <a:cxnLst/>
            <a:rect l="l" t="t" r="r" b="b"/>
            <a:pathLst>
              <a:path w="2760657" h="4114800">
                <a:moveTo>
                  <a:pt x="0" y="0"/>
                </a:moveTo>
                <a:lnTo>
                  <a:pt x="2760657" y="0"/>
                </a:lnTo>
                <a:lnTo>
                  <a:pt x="27606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173320"/>
            <a:ext cx="16230600" cy="10773410"/>
            <a:chOff x="0" y="0"/>
            <a:chExt cx="4274726" cy="28374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837441"/>
            </a:xfrm>
            <a:custGeom>
              <a:avLst/>
              <a:gdLst/>
              <a:ahLst/>
              <a:cxnLst/>
              <a:rect l="l" t="t" r="r" b="b"/>
              <a:pathLst>
                <a:path w="4274726" h="2837441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813114"/>
                  </a:lnTo>
                  <a:cubicBezTo>
                    <a:pt x="4274726" y="2826550"/>
                    <a:pt x="4263834" y="2837441"/>
                    <a:pt x="4250399" y="2837441"/>
                  </a:cubicBezTo>
                  <a:lnTo>
                    <a:pt x="24327" y="2837441"/>
                  </a:lnTo>
                  <a:cubicBezTo>
                    <a:pt x="10891" y="2837441"/>
                    <a:pt x="0" y="2826550"/>
                    <a:pt x="0" y="281311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DD56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875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-6768597" y="2628077"/>
            <a:ext cx="11422547" cy="5030847"/>
            <a:chOff x="0" y="0"/>
            <a:chExt cx="3008407" cy="13249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08407" cy="1324997"/>
            </a:xfrm>
            <a:custGeom>
              <a:avLst/>
              <a:gdLst/>
              <a:ahLst/>
              <a:cxnLst/>
              <a:rect l="l" t="t" r="r" b="b"/>
              <a:pathLst>
                <a:path w="3008407" h="1324997">
                  <a:moveTo>
                    <a:pt x="0" y="0"/>
                  </a:moveTo>
                  <a:lnTo>
                    <a:pt x="3008407" y="0"/>
                  </a:lnTo>
                  <a:lnTo>
                    <a:pt x="3008407" y="1324997"/>
                  </a:lnTo>
                  <a:lnTo>
                    <a:pt x="0" y="1324997"/>
                  </a:lnTo>
                  <a:close/>
                </a:path>
              </a:pathLst>
            </a:custGeom>
            <a:solidFill>
              <a:srgbClr val="FDD56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008407" cy="1363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445106" y="3383088"/>
            <a:ext cx="673331" cy="4114800"/>
          </a:xfrm>
          <a:custGeom>
            <a:avLst/>
            <a:gdLst/>
            <a:ahLst/>
            <a:cxnLst/>
            <a:rect l="l" t="t" r="r" b="b"/>
            <a:pathLst>
              <a:path w="673331" h="4114800">
                <a:moveTo>
                  <a:pt x="0" y="0"/>
                </a:moveTo>
                <a:lnTo>
                  <a:pt x="673331" y="0"/>
                </a:lnTo>
                <a:lnTo>
                  <a:pt x="6733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894180" y="8313555"/>
            <a:ext cx="4213489" cy="2750259"/>
          </a:xfrm>
          <a:custGeom>
            <a:avLst/>
            <a:gdLst/>
            <a:ahLst/>
            <a:cxnLst/>
            <a:rect l="l" t="t" r="r" b="b"/>
            <a:pathLst>
              <a:path w="4213489" h="2750259">
                <a:moveTo>
                  <a:pt x="0" y="0"/>
                </a:moveTo>
                <a:lnTo>
                  <a:pt x="4213489" y="0"/>
                </a:lnTo>
                <a:lnTo>
                  <a:pt x="4213489" y="2750259"/>
                </a:lnTo>
                <a:lnTo>
                  <a:pt x="0" y="2750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V="1">
            <a:off x="14894180" y="-767346"/>
            <a:ext cx="4213489" cy="2750259"/>
          </a:xfrm>
          <a:custGeom>
            <a:avLst/>
            <a:gdLst/>
            <a:ahLst/>
            <a:cxnLst/>
            <a:rect l="l" t="t" r="r" b="b"/>
            <a:pathLst>
              <a:path w="4213489" h="2750259">
                <a:moveTo>
                  <a:pt x="0" y="2750259"/>
                </a:moveTo>
                <a:lnTo>
                  <a:pt x="4213489" y="2750259"/>
                </a:lnTo>
                <a:lnTo>
                  <a:pt x="4213489" y="0"/>
                </a:lnTo>
                <a:lnTo>
                  <a:pt x="0" y="0"/>
                </a:lnTo>
                <a:lnTo>
                  <a:pt x="0" y="275025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1731957" y="3383088"/>
            <a:ext cx="2760657" cy="4114800"/>
          </a:xfrm>
          <a:custGeom>
            <a:avLst/>
            <a:gdLst/>
            <a:ahLst/>
            <a:cxnLst/>
            <a:rect l="l" t="t" r="r" b="b"/>
            <a:pathLst>
              <a:path w="2760657" h="4114800">
                <a:moveTo>
                  <a:pt x="0" y="0"/>
                </a:moveTo>
                <a:lnTo>
                  <a:pt x="2760657" y="0"/>
                </a:lnTo>
                <a:lnTo>
                  <a:pt x="27606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995148" y="1679316"/>
            <a:ext cx="8297704" cy="1058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9501" b="1" spc="-418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Pada </a:t>
            </a:r>
            <a:r>
              <a:rPr lang="en-US" sz="9501" b="1" spc="-418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Proyek</a:t>
            </a:r>
            <a:r>
              <a:rPr lang="en-US" sz="9501" b="1" spc="-418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: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32763" y="4233814"/>
            <a:ext cx="11022474" cy="4330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800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Dilakukan</a:t>
            </a:r>
            <a:r>
              <a:rPr lang="en-US" sz="4800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oleh SDM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800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Dibatasi</a:t>
            </a:r>
            <a:r>
              <a:rPr lang="en-US" sz="4800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oleh Sarana/</a:t>
            </a:r>
            <a:r>
              <a:rPr lang="en-US" sz="4800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Sumberdaya</a:t>
            </a:r>
            <a:r>
              <a:rPr lang="en-US" sz="4800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800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Direncanakan</a:t>
            </a:r>
            <a:r>
              <a:rPr lang="en-US" sz="4800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800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Dilaksanakan</a:t>
            </a:r>
            <a:r>
              <a:rPr lang="en-US" sz="4800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dan </a:t>
            </a:r>
            <a:r>
              <a:rPr lang="en-US" sz="4800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Dikontrol</a:t>
            </a:r>
            <a:r>
              <a:rPr lang="en-US" sz="4800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173320"/>
            <a:ext cx="16230600" cy="10773410"/>
            <a:chOff x="0" y="0"/>
            <a:chExt cx="4274726" cy="28374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837441"/>
            </a:xfrm>
            <a:custGeom>
              <a:avLst/>
              <a:gdLst/>
              <a:ahLst/>
              <a:cxnLst/>
              <a:rect l="l" t="t" r="r" b="b"/>
              <a:pathLst>
                <a:path w="4274726" h="2837441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813114"/>
                  </a:lnTo>
                  <a:cubicBezTo>
                    <a:pt x="4274726" y="2826550"/>
                    <a:pt x="4263834" y="2837441"/>
                    <a:pt x="4250399" y="2837441"/>
                  </a:cubicBezTo>
                  <a:lnTo>
                    <a:pt x="24327" y="2837441"/>
                  </a:lnTo>
                  <a:cubicBezTo>
                    <a:pt x="10891" y="2837441"/>
                    <a:pt x="0" y="2826550"/>
                    <a:pt x="0" y="281311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DD56F"/>
              </a:solidFill>
              <a:prstDash val="solid"/>
              <a:round/>
            </a:ln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875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-6768597" y="2628077"/>
            <a:ext cx="11422547" cy="5030847"/>
            <a:chOff x="0" y="0"/>
            <a:chExt cx="3008407" cy="13249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08407" cy="1324997"/>
            </a:xfrm>
            <a:custGeom>
              <a:avLst/>
              <a:gdLst/>
              <a:ahLst/>
              <a:cxnLst/>
              <a:rect l="l" t="t" r="r" b="b"/>
              <a:pathLst>
                <a:path w="3008407" h="1324997">
                  <a:moveTo>
                    <a:pt x="0" y="0"/>
                  </a:moveTo>
                  <a:lnTo>
                    <a:pt x="3008407" y="0"/>
                  </a:lnTo>
                  <a:lnTo>
                    <a:pt x="3008407" y="1324997"/>
                  </a:lnTo>
                  <a:lnTo>
                    <a:pt x="0" y="1324997"/>
                  </a:lnTo>
                  <a:close/>
                </a:path>
              </a:pathLst>
            </a:custGeom>
            <a:solidFill>
              <a:srgbClr val="C8DDF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008407" cy="1363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445106" y="3383088"/>
            <a:ext cx="673331" cy="4114800"/>
          </a:xfrm>
          <a:custGeom>
            <a:avLst/>
            <a:gdLst/>
            <a:ahLst/>
            <a:cxnLst/>
            <a:rect l="l" t="t" r="r" b="b"/>
            <a:pathLst>
              <a:path w="673331" h="4114800">
                <a:moveTo>
                  <a:pt x="0" y="0"/>
                </a:moveTo>
                <a:lnTo>
                  <a:pt x="673331" y="0"/>
                </a:lnTo>
                <a:lnTo>
                  <a:pt x="6733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894180" y="8313555"/>
            <a:ext cx="4213489" cy="2750259"/>
          </a:xfrm>
          <a:custGeom>
            <a:avLst/>
            <a:gdLst/>
            <a:ahLst/>
            <a:cxnLst/>
            <a:rect l="l" t="t" r="r" b="b"/>
            <a:pathLst>
              <a:path w="4213489" h="2750259">
                <a:moveTo>
                  <a:pt x="0" y="0"/>
                </a:moveTo>
                <a:lnTo>
                  <a:pt x="4213489" y="0"/>
                </a:lnTo>
                <a:lnTo>
                  <a:pt x="4213489" y="2750259"/>
                </a:lnTo>
                <a:lnTo>
                  <a:pt x="0" y="2750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V="1">
            <a:off x="14894180" y="-767346"/>
            <a:ext cx="4213489" cy="2750259"/>
          </a:xfrm>
          <a:custGeom>
            <a:avLst/>
            <a:gdLst/>
            <a:ahLst/>
            <a:cxnLst/>
            <a:rect l="l" t="t" r="r" b="b"/>
            <a:pathLst>
              <a:path w="4213489" h="2750259">
                <a:moveTo>
                  <a:pt x="0" y="2750259"/>
                </a:moveTo>
                <a:lnTo>
                  <a:pt x="4213489" y="2750259"/>
                </a:lnTo>
                <a:lnTo>
                  <a:pt x="4213489" y="0"/>
                </a:lnTo>
                <a:lnTo>
                  <a:pt x="0" y="0"/>
                </a:lnTo>
                <a:lnTo>
                  <a:pt x="0" y="275025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995148" y="1679316"/>
            <a:ext cx="8297704" cy="203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9501" b="1" spc="-418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Visi dan Misi </a:t>
            </a:r>
            <a:r>
              <a:rPr lang="en-US" sz="9501" b="1" spc="-418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Proyek</a:t>
            </a:r>
            <a:r>
              <a:rPr lang="en-US" sz="9501" b="1" spc="-418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</a:p>
        </p:txBody>
      </p:sp>
      <p:sp>
        <p:nvSpPr>
          <p:cNvPr id="12" name="Freeform 12"/>
          <p:cNvSpPr/>
          <p:nvPr/>
        </p:nvSpPr>
        <p:spPr>
          <a:xfrm>
            <a:off x="-1731957" y="3383088"/>
            <a:ext cx="2760657" cy="4114800"/>
          </a:xfrm>
          <a:custGeom>
            <a:avLst/>
            <a:gdLst/>
            <a:ahLst/>
            <a:cxnLst/>
            <a:rect l="l" t="t" r="r" b="b"/>
            <a:pathLst>
              <a:path w="2760657" h="4114800">
                <a:moveTo>
                  <a:pt x="0" y="0"/>
                </a:moveTo>
                <a:lnTo>
                  <a:pt x="2760657" y="0"/>
                </a:lnTo>
                <a:lnTo>
                  <a:pt x="27606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821635" y="4442252"/>
            <a:ext cx="2912953" cy="460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4000" b="1" spc="-176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Visi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81500" y="4442252"/>
            <a:ext cx="2990833" cy="460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4000" b="1" spc="-17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Quantitative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81500" y="5086350"/>
            <a:ext cx="5284865" cy="3963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4"/>
              </a:lnSpc>
            </a:pPr>
            <a:r>
              <a:rPr lang="en-ID" sz="2400" dirty="0" err="1">
                <a:latin typeface="DM Sans" pitchFamily="2" charset="0"/>
              </a:rPr>
              <a:t>sebuah</a:t>
            </a:r>
            <a:r>
              <a:rPr lang="en-ID" sz="2400" dirty="0">
                <a:latin typeface="DM Sans" pitchFamily="2" charset="0"/>
              </a:rPr>
              <a:t> </a:t>
            </a:r>
            <a:r>
              <a:rPr lang="en-ID" sz="2400" dirty="0" err="1">
                <a:latin typeface="DM Sans" pitchFamily="2" charset="0"/>
              </a:rPr>
              <a:t>pernyataan</a:t>
            </a:r>
            <a:r>
              <a:rPr lang="en-ID" sz="2400" dirty="0">
                <a:latin typeface="DM Sans" pitchFamily="2" charset="0"/>
              </a:rPr>
              <a:t> </a:t>
            </a:r>
            <a:r>
              <a:rPr lang="en-ID" sz="2400" dirty="0" err="1">
                <a:latin typeface="DM Sans" pitchFamily="2" charset="0"/>
              </a:rPr>
              <a:t>singkat</a:t>
            </a:r>
            <a:r>
              <a:rPr lang="en-ID" sz="2400" dirty="0">
                <a:latin typeface="DM Sans" pitchFamily="2" charset="0"/>
              </a:rPr>
              <a:t> dan </a:t>
            </a:r>
            <a:r>
              <a:rPr lang="en-ID" sz="2400" dirty="0" err="1">
                <a:latin typeface="DM Sans" pitchFamily="2" charset="0"/>
              </a:rPr>
              <a:t>jelas</a:t>
            </a:r>
            <a:r>
              <a:rPr lang="en-ID" sz="2400" dirty="0">
                <a:latin typeface="DM Sans" pitchFamily="2" charset="0"/>
              </a:rPr>
              <a:t> yang </a:t>
            </a:r>
            <a:r>
              <a:rPr lang="en-ID" sz="2400" dirty="0" err="1">
                <a:latin typeface="DM Sans" pitchFamily="2" charset="0"/>
              </a:rPr>
              <a:t>menjelaskan</a:t>
            </a:r>
            <a:r>
              <a:rPr lang="en-ID" sz="2400" dirty="0">
                <a:latin typeface="DM Sans" pitchFamily="2" charset="0"/>
              </a:rPr>
              <a:t> </a:t>
            </a:r>
            <a:r>
              <a:rPr lang="en-ID" sz="2400" b="1" dirty="0" err="1">
                <a:latin typeface="DM Sans" pitchFamily="2" charset="0"/>
              </a:rPr>
              <a:t>tujuan</a:t>
            </a:r>
            <a:r>
              <a:rPr lang="en-ID" sz="2400" b="1" dirty="0">
                <a:latin typeface="DM Sans" pitchFamily="2" charset="0"/>
              </a:rPr>
              <a:t> </a:t>
            </a:r>
            <a:r>
              <a:rPr lang="en-ID" sz="2400" b="1" dirty="0" err="1">
                <a:latin typeface="DM Sans" pitchFamily="2" charset="0"/>
              </a:rPr>
              <a:t>utama</a:t>
            </a:r>
            <a:r>
              <a:rPr lang="en-ID" sz="2400" dirty="0">
                <a:latin typeface="DM Sans" pitchFamily="2" charset="0"/>
              </a:rPr>
              <a:t> </a:t>
            </a:r>
            <a:r>
              <a:rPr lang="en-ID" sz="2400" dirty="0" err="1">
                <a:latin typeface="DM Sans" pitchFamily="2" charset="0"/>
              </a:rPr>
              <a:t>mengapa</a:t>
            </a:r>
            <a:r>
              <a:rPr lang="en-ID" sz="2400" dirty="0">
                <a:latin typeface="DM Sans" pitchFamily="2" charset="0"/>
              </a:rPr>
              <a:t> </a:t>
            </a:r>
            <a:r>
              <a:rPr lang="en-ID" sz="2400" dirty="0" err="1">
                <a:latin typeface="DM Sans" pitchFamily="2" charset="0"/>
              </a:rPr>
              <a:t>suatu</a:t>
            </a:r>
            <a:r>
              <a:rPr lang="en-ID" sz="2400" dirty="0">
                <a:latin typeface="DM Sans" pitchFamily="2" charset="0"/>
              </a:rPr>
              <a:t> </a:t>
            </a:r>
            <a:r>
              <a:rPr lang="en-ID" sz="2400" dirty="0" err="1">
                <a:latin typeface="DM Sans" pitchFamily="2" charset="0"/>
              </a:rPr>
              <a:t>proyek</a:t>
            </a:r>
            <a:r>
              <a:rPr lang="en-ID" sz="2400" dirty="0">
                <a:latin typeface="DM Sans" pitchFamily="2" charset="0"/>
              </a:rPr>
              <a:t> </a:t>
            </a:r>
            <a:r>
              <a:rPr lang="en-ID" sz="2400" dirty="0" err="1">
                <a:latin typeface="DM Sans" pitchFamily="2" charset="0"/>
              </a:rPr>
              <a:t>dilakukan</a:t>
            </a:r>
            <a:r>
              <a:rPr lang="en-ID" sz="2400" dirty="0">
                <a:latin typeface="DM Sans" pitchFamily="2" charset="0"/>
              </a:rPr>
              <a:t>. Misi </a:t>
            </a:r>
            <a:r>
              <a:rPr lang="en-ID" sz="2400" dirty="0" err="1">
                <a:latin typeface="DM Sans" pitchFamily="2" charset="0"/>
              </a:rPr>
              <a:t>ini</a:t>
            </a:r>
            <a:r>
              <a:rPr lang="en-ID" sz="2400" dirty="0">
                <a:latin typeface="DM Sans" pitchFamily="2" charset="0"/>
              </a:rPr>
              <a:t> </a:t>
            </a:r>
            <a:r>
              <a:rPr lang="en-ID" sz="2400" dirty="0" err="1">
                <a:latin typeface="DM Sans" pitchFamily="2" charset="0"/>
              </a:rPr>
              <a:t>memberikan</a:t>
            </a:r>
            <a:r>
              <a:rPr lang="en-ID" sz="2400" dirty="0">
                <a:latin typeface="DM Sans" pitchFamily="2" charset="0"/>
              </a:rPr>
              <a:t> </a:t>
            </a:r>
            <a:r>
              <a:rPr lang="en-ID" sz="2400" dirty="0" err="1">
                <a:latin typeface="DM Sans" pitchFamily="2" charset="0"/>
              </a:rPr>
              <a:t>arah</a:t>
            </a:r>
            <a:r>
              <a:rPr lang="en-ID" sz="2400" dirty="0">
                <a:latin typeface="DM Sans" pitchFamily="2" charset="0"/>
              </a:rPr>
              <a:t> </a:t>
            </a:r>
            <a:r>
              <a:rPr lang="en-ID" sz="2400" dirty="0" err="1">
                <a:latin typeface="DM Sans" pitchFamily="2" charset="0"/>
              </a:rPr>
              <a:t>bagi</a:t>
            </a:r>
            <a:r>
              <a:rPr lang="en-ID" sz="2400" dirty="0">
                <a:latin typeface="DM Sans" pitchFamily="2" charset="0"/>
              </a:rPr>
              <a:t> </a:t>
            </a:r>
            <a:r>
              <a:rPr lang="en-ID" sz="2400" dirty="0" err="1">
                <a:latin typeface="DM Sans" pitchFamily="2" charset="0"/>
              </a:rPr>
              <a:t>seluruh</a:t>
            </a:r>
            <a:r>
              <a:rPr lang="en-ID" sz="2400" dirty="0">
                <a:latin typeface="DM Sans" pitchFamily="2" charset="0"/>
              </a:rPr>
              <a:t> </a:t>
            </a:r>
            <a:r>
              <a:rPr lang="en-ID" sz="2400" dirty="0" err="1">
                <a:latin typeface="DM Sans" pitchFamily="2" charset="0"/>
              </a:rPr>
              <a:t>tim</a:t>
            </a:r>
            <a:r>
              <a:rPr lang="en-ID" sz="2400" dirty="0">
                <a:latin typeface="DM Sans" pitchFamily="2" charset="0"/>
              </a:rPr>
              <a:t> </a:t>
            </a:r>
            <a:r>
              <a:rPr lang="en-ID" sz="2400" dirty="0" err="1">
                <a:latin typeface="DM Sans" pitchFamily="2" charset="0"/>
              </a:rPr>
              <a:t>proyek</a:t>
            </a:r>
            <a:r>
              <a:rPr lang="en-ID" sz="2400" dirty="0">
                <a:latin typeface="DM Sans" pitchFamily="2" charset="0"/>
              </a:rPr>
              <a:t> </a:t>
            </a:r>
            <a:r>
              <a:rPr lang="en-ID" sz="2400" dirty="0" err="1">
                <a:latin typeface="DM Sans" pitchFamily="2" charset="0"/>
              </a:rPr>
              <a:t>mengenai</a:t>
            </a:r>
            <a:r>
              <a:rPr lang="en-ID" sz="2400" dirty="0">
                <a:latin typeface="DM Sans" pitchFamily="2" charset="0"/>
              </a:rPr>
              <a:t> </a:t>
            </a:r>
            <a:r>
              <a:rPr lang="en-ID" sz="2400" dirty="0" err="1">
                <a:latin typeface="DM Sans" pitchFamily="2" charset="0"/>
              </a:rPr>
              <a:t>apa</a:t>
            </a:r>
            <a:r>
              <a:rPr lang="en-ID" sz="2400" dirty="0">
                <a:latin typeface="DM Sans" pitchFamily="2" charset="0"/>
              </a:rPr>
              <a:t> yang </a:t>
            </a:r>
            <a:r>
              <a:rPr lang="en-ID" sz="2400" dirty="0" err="1">
                <a:latin typeface="DM Sans" pitchFamily="2" charset="0"/>
              </a:rPr>
              <a:t>ingin</a:t>
            </a:r>
            <a:r>
              <a:rPr lang="en-ID" sz="2400" dirty="0">
                <a:latin typeface="DM Sans" pitchFamily="2" charset="0"/>
              </a:rPr>
              <a:t> </a:t>
            </a:r>
            <a:r>
              <a:rPr lang="en-ID" sz="2400" dirty="0" err="1">
                <a:latin typeface="DM Sans" pitchFamily="2" charset="0"/>
              </a:rPr>
              <a:t>dicapai</a:t>
            </a:r>
            <a:r>
              <a:rPr lang="en-ID" sz="2400" dirty="0">
                <a:latin typeface="DM Sans" pitchFamily="2" charset="0"/>
              </a:rPr>
              <a:t> dan </a:t>
            </a:r>
            <a:r>
              <a:rPr lang="en-ID" sz="2400" dirty="0" err="1">
                <a:latin typeface="DM Sans" pitchFamily="2" charset="0"/>
              </a:rPr>
              <a:t>nilai</a:t>
            </a:r>
            <a:r>
              <a:rPr lang="en-ID" sz="2400" dirty="0">
                <a:latin typeface="DM Sans" pitchFamily="2" charset="0"/>
              </a:rPr>
              <a:t> </a:t>
            </a:r>
            <a:r>
              <a:rPr lang="en-ID" sz="2400" dirty="0" err="1">
                <a:latin typeface="DM Sans" pitchFamily="2" charset="0"/>
              </a:rPr>
              <a:t>apa</a:t>
            </a:r>
            <a:r>
              <a:rPr lang="en-ID" sz="2400" dirty="0">
                <a:latin typeface="DM Sans" pitchFamily="2" charset="0"/>
              </a:rPr>
              <a:t> yang </a:t>
            </a:r>
            <a:r>
              <a:rPr lang="en-ID" sz="2400" dirty="0" err="1">
                <a:latin typeface="DM Sans" pitchFamily="2" charset="0"/>
              </a:rPr>
              <a:t>akan</a:t>
            </a:r>
            <a:r>
              <a:rPr lang="en-ID" sz="2400" dirty="0">
                <a:latin typeface="DM Sans" pitchFamily="2" charset="0"/>
              </a:rPr>
              <a:t> </a:t>
            </a:r>
            <a:r>
              <a:rPr lang="en-ID" sz="2400" dirty="0" err="1">
                <a:latin typeface="DM Sans" pitchFamily="2" charset="0"/>
              </a:rPr>
              <a:t>diberikan</a:t>
            </a:r>
            <a:r>
              <a:rPr lang="en-ID" sz="2400" dirty="0">
                <a:latin typeface="DM Sans" pitchFamily="2" charset="0"/>
              </a:rPr>
              <a:t> </a:t>
            </a:r>
            <a:r>
              <a:rPr lang="en-ID" sz="2400" dirty="0" err="1">
                <a:latin typeface="DM Sans" pitchFamily="2" charset="0"/>
              </a:rPr>
              <a:t>kepada</a:t>
            </a:r>
            <a:r>
              <a:rPr lang="en-ID" sz="2400" dirty="0">
                <a:latin typeface="DM Sans" pitchFamily="2" charset="0"/>
              </a:rPr>
              <a:t> </a:t>
            </a:r>
            <a:r>
              <a:rPr lang="en-ID" sz="2400" dirty="0" err="1">
                <a:latin typeface="DM Sans" pitchFamily="2" charset="0"/>
              </a:rPr>
              <a:t>organisasi</a:t>
            </a:r>
            <a:r>
              <a:rPr lang="en-ID" sz="2400" dirty="0">
                <a:latin typeface="DM Sans" pitchFamily="2" charset="0"/>
              </a:rPr>
              <a:t> </a:t>
            </a:r>
            <a:r>
              <a:rPr lang="en-ID" sz="2400" dirty="0" err="1">
                <a:latin typeface="DM Sans" pitchFamily="2" charset="0"/>
              </a:rPr>
              <a:t>atau</a:t>
            </a:r>
            <a:r>
              <a:rPr lang="en-ID" sz="2400" dirty="0">
                <a:latin typeface="DM Sans" pitchFamily="2" charset="0"/>
              </a:rPr>
              <a:t> </a:t>
            </a:r>
            <a:r>
              <a:rPr lang="en-ID" sz="2400" dirty="0" err="1">
                <a:latin typeface="DM Sans" pitchFamily="2" charset="0"/>
              </a:rPr>
              <a:t>pelanggan</a:t>
            </a:r>
            <a:endParaRPr lang="en-US" sz="2400" spc="-95" dirty="0">
              <a:solidFill>
                <a:srgbClr val="000000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821635" y="5086350"/>
            <a:ext cx="5284865" cy="4449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4"/>
              </a:lnSpc>
            </a:pPr>
            <a:r>
              <a:rPr lang="en-ID" sz="2000" dirty="0" err="1">
                <a:latin typeface="DM Sans" pitchFamily="2" charset="0"/>
              </a:rPr>
              <a:t>suatu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tujuan</a:t>
            </a:r>
            <a:r>
              <a:rPr lang="en-ID" sz="2000" dirty="0">
                <a:latin typeface="DM Sans" pitchFamily="2" charset="0"/>
              </a:rPr>
              <a:t> (goal) yang </a:t>
            </a:r>
            <a:r>
              <a:rPr lang="en-ID" sz="2000" dirty="0" err="1">
                <a:latin typeface="DM Sans" pitchFamily="2" charset="0"/>
              </a:rPr>
              <a:t>dituju</a:t>
            </a:r>
            <a:r>
              <a:rPr lang="en-ID" sz="2000" dirty="0">
                <a:latin typeface="DM Sans" pitchFamily="2" charset="0"/>
              </a:rPr>
              <a:t> di masa </a:t>
            </a:r>
            <a:r>
              <a:rPr lang="en-ID" sz="2000" dirty="0" err="1">
                <a:latin typeface="DM Sans" pitchFamily="2" charset="0"/>
              </a:rPr>
              <a:t>depan</a:t>
            </a:r>
            <a:r>
              <a:rPr lang="en-ID" sz="2000" dirty="0">
                <a:latin typeface="DM Sans" pitchFamily="2" charset="0"/>
              </a:rPr>
              <a:t>. Visi </a:t>
            </a:r>
            <a:r>
              <a:rPr lang="en-ID" sz="2000" dirty="0" err="1">
                <a:latin typeface="DM Sans" pitchFamily="2" charset="0"/>
              </a:rPr>
              <a:t>memberi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arahan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kemana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perjalanan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suatu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proyek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harus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dituju</a:t>
            </a:r>
            <a:r>
              <a:rPr lang="en-ID" sz="2000" dirty="0">
                <a:latin typeface="DM Sans" pitchFamily="2" charset="0"/>
              </a:rPr>
              <a:t>. Apa yang </a:t>
            </a:r>
            <a:r>
              <a:rPr lang="en-ID" sz="2000" dirty="0" err="1">
                <a:latin typeface="DM Sans" pitchFamily="2" charset="0"/>
              </a:rPr>
              <a:t>diharapkan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dari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suatu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proyek</a:t>
            </a:r>
            <a:r>
              <a:rPr lang="en-ID" sz="2000" dirty="0">
                <a:latin typeface="DM Sans" pitchFamily="2" charset="0"/>
              </a:rPr>
              <a:t>, </a:t>
            </a:r>
            <a:r>
              <a:rPr lang="en-ID" sz="2000" dirty="0" err="1">
                <a:latin typeface="DM Sans" pitchFamily="2" charset="0"/>
              </a:rPr>
              <a:t>sumberdaya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apa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saja</a:t>
            </a:r>
            <a:r>
              <a:rPr lang="en-ID" sz="2000" dirty="0">
                <a:latin typeface="DM Sans" pitchFamily="2" charset="0"/>
              </a:rPr>
              <a:t> yang </a:t>
            </a:r>
            <a:r>
              <a:rPr lang="en-ID" sz="2000" dirty="0" err="1">
                <a:latin typeface="DM Sans" pitchFamily="2" charset="0"/>
              </a:rPr>
              <a:t>dibutuhkan</a:t>
            </a:r>
            <a:r>
              <a:rPr lang="en-ID" sz="2000" dirty="0">
                <a:latin typeface="DM Sans" pitchFamily="2" charset="0"/>
              </a:rPr>
              <a:t>, </a:t>
            </a:r>
            <a:r>
              <a:rPr lang="en-ID" sz="2000" dirty="0" err="1">
                <a:latin typeface="DM Sans" pitchFamily="2" charset="0"/>
              </a:rPr>
              <a:t>apa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saja</a:t>
            </a:r>
            <a:r>
              <a:rPr lang="en-ID" sz="2000" dirty="0">
                <a:latin typeface="DM Sans" pitchFamily="2" charset="0"/>
              </a:rPr>
              <a:t> yang </a:t>
            </a:r>
            <a:r>
              <a:rPr lang="en-ID" sz="2000" dirty="0" err="1">
                <a:latin typeface="DM Sans" pitchFamily="2" charset="0"/>
              </a:rPr>
              <a:t>harus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dihasilkan</a:t>
            </a:r>
            <a:r>
              <a:rPr lang="en-ID" sz="2000" dirty="0">
                <a:latin typeface="DM Sans" pitchFamily="2" charset="0"/>
              </a:rPr>
              <a:t>, </a:t>
            </a:r>
            <a:r>
              <a:rPr lang="en-ID" sz="2000" dirty="0" err="1">
                <a:latin typeface="DM Sans" pitchFamily="2" charset="0"/>
              </a:rPr>
              <a:t>kapan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proyek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harus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selesai</a:t>
            </a:r>
            <a:r>
              <a:rPr lang="en-ID" sz="2000" dirty="0">
                <a:latin typeface="DM Sans" pitchFamily="2" charset="0"/>
              </a:rPr>
              <a:t>, </a:t>
            </a:r>
            <a:r>
              <a:rPr lang="en-ID" sz="2000" dirty="0" err="1">
                <a:latin typeface="DM Sans" pitchFamily="2" charset="0"/>
              </a:rPr>
              <a:t>siapa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saja</a:t>
            </a:r>
            <a:r>
              <a:rPr lang="en-ID" sz="2000" dirty="0">
                <a:latin typeface="DM Sans" pitchFamily="2" charset="0"/>
              </a:rPr>
              <a:t> yang </a:t>
            </a:r>
            <a:r>
              <a:rPr lang="en-ID" sz="2000" dirty="0" err="1">
                <a:latin typeface="DM Sans" pitchFamily="2" charset="0"/>
              </a:rPr>
              <a:t>berkepentingan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dalam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proyek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ini</a:t>
            </a:r>
            <a:r>
              <a:rPr lang="en-ID" sz="2000" dirty="0">
                <a:latin typeface="DM Sans" pitchFamily="2" charset="0"/>
              </a:rPr>
              <a:t>, </a:t>
            </a:r>
            <a:r>
              <a:rPr lang="en-ID" sz="2000" dirty="0" err="1">
                <a:latin typeface="DM Sans" pitchFamily="2" charset="0"/>
              </a:rPr>
              <a:t>siapa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pengguna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akhir</a:t>
            </a:r>
            <a:r>
              <a:rPr lang="en-ID" sz="2000" dirty="0">
                <a:latin typeface="DM Sans" pitchFamily="2" charset="0"/>
              </a:rPr>
              <a:t> </a:t>
            </a:r>
            <a:r>
              <a:rPr lang="en-ID" sz="2000" dirty="0" err="1">
                <a:latin typeface="DM Sans" pitchFamily="2" charset="0"/>
              </a:rPr>
              <a:t>proyek</a:t>
            </a:r>
            <a:r>
              <a:rPr lang="en-ID" sz="2000" dirty="0">
                <a:latin typeface="DM Sans" pitchFamily="2" charset="0"/>
              </a:rPr>
              <a:t>.</a:t>
            </a:r>
            <a:endParaRPr lang="en-US" sz="2000" spc="-95" dirty="0">
              <a:solidFill>
                <a:srgbClr val="000000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173320"/>
            <a:ext cx="16230600" cy="10773410"/>
            <a:chOff x="0" y="0"/>
            <a:chExt cx="4274726" cy="28374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837441"/>
            </a:xfrm>
            <a:custGeom>
              <a:avLst/>
              <a:gdLst/>
              <a:ahLst/>
              <a:cxnLst/>
              <a:rect l="l" t="t" r="r" b="b"/>
              <a:pathLst>
                <a:path w="4274726" h="2837441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813114"/>
                  </a:lnTo>
                  <a:cubicBezTo>
                    <a:pt x="4274726" y="2826550"/>
                    <a:pt x="4263834" y="2837441"/>
                    <a:pt x="4250399" y="2837441"/>
                  </a:cubicBezTo>
                  <a:lnTo>
                    <a:pt x="24327" y="2837441"/>
                  </a:lnTo>
                  <a:cubicBezTo>
                    <a:pt x="10891" y="2837441"/>
                    <a:pt x="0" y="2826550"/>
                    <a:pt x="0" y="281311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DD56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875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-6768597" y="2628077"/>
            <a:ext cx="11422547" cy="5030847"/>
            <a:chOff x="0" y="0"/>
            <a:chExt cx="3008407" cy="13249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08407" cy="1324997"/>
            </a:xfrm>
            <a:custGeom>
              <a:avLst/>
              <a:gdLst/>
              <a:ahLst/>
              <a:cxnLst/>
              <a:rect l="l" t="t" r="r" b="b"/>
              <a:pathLst>
                <a:path w="3008407" h="1324997">
                  <a:moveTo>
                    <a:pt x="0" y="0"/>
                  </a:moveTo>
                  <a:lnTo>
                    <a:pt x="3008407" y="0"/>
                  </a:lnTo>
                  <a:lnTo>
                    <a:pt x="3008407" y="1324997"/>
                  </a:lnTo>
                  <a:lnTo>
                    <a:pt x="0" y="1324997"/>
                  </a:lnTo>
                  <a:close/>
                </a:path>
              </a:pathLst>
            </a:custGeom>
            <a:solidFill>
              <a:srgbClr val="FDD56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008407" cy="1363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445106" y="3383088"/>
            <a:ext cx="673331" cy="4114800"/>
          </a:xfrm>
          <a:custGeom>
            <a:avLst/>
            <a:gdLst/>
            <a:ahLst/>
            <a:cxnLst/>
            <a:rect l="l" t="t" r="r" b="b"/>
            <a:pathLst>
              <a:path w="673331" h="4114800">
                <a:moveTo>
                  <a:pt x="0" y="0"/>
                </a:moveTo>
                <a:lnTo>
                  <a:pt x="673331" y="0"/>
                </a:lnTo>
                <a:lnTo>
                  <a:pt x="6733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894180" y="8313555"/>
            <a:ext cx="4213489" cy="2750259"/>
          </a:xfrm>
          <a:custGeom>
            <a:avLst/>
            <a:gdLst/>
            <a:ahLst/>
            <a:cxnLst/>
            <a:rect l="l" t="t" r="r" b="b"/>
            <a:pathLst>
              <a:path w="4213489" h="2750259">
                <a:moveTo>
                  <a:pt x="0" y="0"/>
                </a:moveTo>
                <a:lnTo>
                  <a:pt x="4213489" y="0"/>
                </a:lnTo>
                <a:lnTo>
                  <a:pt x="4213489" y="2750259"/>
                </a:lnTo>
                <a:lnTo>
                  <a:pt x="0" y="2750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V="1">
            <a:off x="14894180" y="-767346"/>
            <a:ext cx="4213489" cy="2750259"/>
          </a:xfrm>
          <a:custGeom>
            <a:avLst/>
            <a:gdLst/>
            <a:ahLst/>
            <a:cxnLst/>
            <a:rect l="l" t="t" r="r" b="b"/>
            <a:pathLst>
              <a:path w="4213489" h="2750259">
                <a:moveTo>
                  <a:pt x="0" y="2750259"/>
                </a:moveTo>
                <a:lnTo>
                  <a:pt x="4213489" y="2750259"/>
                </a:lnTo>
                <a:lnTo>
                  <a:pt x="4213489" y="0"/>
                </a:lnTo>
                <a:lnTo>
                  <a:pt x="0" y="0"/>
                </a:lnTo>
                <a:lnTo>
                  <a:pt x="0" y="275025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1731957" y="3383088"/>
            <a:ext cx="2760657" cy="4114800"/>
          </a:xfrm>
          <a:custGeom>
            <a:avLst/>
            <a:gdLst/>
            <a:ahLst/>
            <a:cxnLst/>
            <a:rect l="l" t="t" r="r" b="b"/>
            <a:pathLst>
              <a:path w="2760657" h="4114800">
                <a:moveTo>
                  <a:pt x="0" y="0"/>
                </a:moveTo>
                <a:lnTo>
                  <a:pt x="2760657" y="0"/>
                </a:lnTo>
                <a:lnTo>
                  <a:pt x="27606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995148" y="1679316"/>
            <a:ext cx="8297704" cy="203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9501" b="1" spc="-418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Misi </a:t>
            </a:r>
            <a:r>
              <a:rPr lang="en-US" sz="9501" b="1" spc="-418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Proyek</a:t>
            </a:r>
            <a:r>
              <a:rPr lang="en-US" sz="9501" b="1" spc="-418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9501" b="1" spc="-418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mencakup</a:t>
            </a:r>
            <a:r>
              <a:rPr lang="en-US" sz="9501" b="1" spc="-418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: </a:t>
            </a:r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C536AF35-232B-BF05-4116-E65E257962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6319606"/>
              </p:ext>
            </p:extLst>
          </p:nvPr>
        </p:nvGraphicFramePr>
        <p:xfrm>
          <a:off x="3048000" y="1079500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7DEE77E-635D-5BE8-C20E-E3B5EAED5CC2}"/>
              </a:ext>
            </a:extLst>
          </p:cNvPr>
          <p:cNvSpPr txBox="1"/>
          <p:nvPr/>
        </p:nvSpPr>
        <p:spPr>
          <a:xfrm>
            <a:off x="3137568" y="6477282"/>
            <a:ext cx="2480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Apa yang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diselesaikan</a:t>
            </a:r>
            <a:r>
              <a:rPr lang="en-ID" dirty="0"/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6D85CA-8B21-A3B0-5188-D127DAF7862F}"/>
              </a:ext>
            </a:extLst>
          </p:cNvPr>
          <p:cNvSpPr txBox="1"/>
          <p:nvPr/>
        </p:nvSpPr>
        <p:spPr>
          <a:xfrm>
            <a:off x="7680901" y="6574756"/>
            <a:ext cx="2480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Apa batasan pekerjaan proyek tersebut?</a:t>
            </a:r>
            <a:endParaRPr lang="en-ID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38CE5B-C4CF-10A2-3186-A4ADC809039E}"/>
              </a:ext>
            </a:extLst>
          </p:cNvPr>
          <p:cNvSpPr txBox="1"/>
          <p:nvPr/>
        </p:nvSpPr>
        <p:spPr>
          <a:xfrm>
            <a:off x="12649831" y="6508080"/>
            <a:ext cx="2480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Apa </a:t>
            </a:r>
            <a:r>
              <a:rPr lang="en-ID" dirty="0" err="1"/>
              <a:t>dampak</a:t>
            </a:r>
            <a:r>
              <a:rPr lang="en-ID" dirty="0"/>
              <a:t> </a:t>
            </a:r>
            <a:r>
              <a:rPr lang="en-ID" dirty="0" err="1"/>
              <a:t>positif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keberhasilan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173320"/>
            <a:ext cx="16230600" cy="10773410"/>
            <a:chOff x="0" y="0"/>
            <a:chExt cx="4274726" cy="28374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837441"/>
            </a:xfrm>
            <a:custGeom>
              <a:avLst/>
              <a:gdLst/>
              <a:ahLst/>
              <a:cxnLst/>
              <a:rect l="l" t="t" r="r" b="b"/>
              <a:pathLst>
                <a:path w="4274726" h="2837441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813114"/>
                  </a:lnTo>
                  <a:cubicBezTo>
                    <a:pt x="4274726" y="2826550"/>
                    <a:pt x="4263834" y="2837441"/>
                    <a:pt x="4250399" y="2837441"/>
                  </a:cubicBezTo>
                  <a:lnTo>
                    <a:pt x="24327" y="2837441"/>
                  </a:lnTo>
                  <a:cubicBezTo>
                    <a:pt x="10891" y="2837441"/>
                    <a:pt x="0" y="2826550"/>
                    <a:pt x="0" y="281311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DD56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875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-6768597" y="2628077"/>
            <a:ext cx="11422547" cy="5030847"/>
            <a:chOff x="0" y="0"/>
            <a:chExt cx="3008407" cy="13249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08407" cy="1324997"/>
            </a:xfrm>
            <a:custGeom>
              <a:avLst/>
              <a:gdLst/>
              <a:ahLst/>
              <a:cxnLst/>
              <a:rect l="l" t="t" r="r" b="b"/>
              <a:pathLst>
                <a:path w="3008407" h="1324997">
                  <a:moveTo>
                    <a:pt x="0" y="0"/>
                  </a:moveTo>
                  <a:lnTo>
                    <a:pt x="3008407" y="0"/>
                  </a:lnTo>
                  <a:lnTo>
                    <a:pt x="3008407" y="1324997"/>
                  </a:lnTo>
                  <a:lnTo>
                    <a:pt x="0" y="1324997"/>
                  </a:lnTo>
                  <a:close/>
                </a:path>
              </a:pathLst>
            </a:custGeom>
            <a:solidFill>
              <a:srgbClr val="C8DDF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008407" cy="1363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445106" y="3383088"/>
            <a:ext cx="673331" cy="4114800"/>
          </a:xfrm>
          <a:custGeom>
            <a:avLst/>
            <a:gdLst/>
            <a:ahLst/>
            <a:cxnLst/>
            <a:rect l="l" t="t" r="r" b="b"/>
            <a:pathLst>
              <a:path w="673331" h="4114800">
                <a:moveTo>
                  <a:pt x="0" y="0"/>
                </a:moveTo>
                <a:lnTo>
                  <a:pt x="673331" y="0"/>
                </a:lnTo>
                <a:lnTo>
                  <a:pt x="6733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894180" y="8313555"/>
            <a:ext cx="4213489" cy="2750259"/>
          </a:xfrm>
          <a:custGeom>
            <a:avLst/>
            <a:gdLst/>
            <a:ahLst/>
            <a:cxnLst/>
            <a:rect l="l" t="t" r="r" b="b"/>
            <a:pathLst>
              <a:path w="4213489" h="2750259">
                <a:moveTo>
                  <a:pt x="0" y="0"/>
                </a:moveTo>
                <a:lnTo>
                  <a:pt x="4213489" y="0"/>
                </a:lnTo>
                <a:lnTo>
                  <a:pt x="4213489" y="2750259"/>
                </a:lnTo>
                <a:lnTo>
                  <a:pt x="0" y="2750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V="1">
            <a:off x="14894180" y="-767346"/>
            <a:ext cx="4213489" cy="2750259"/>
          </a:xfrm>
          <a:custGeom>
            <a:avLst/>
            <a:gdLst/>
            <a:ahLst/>
            <a:cxnLst/>
            <a:rect l="l" t="t" r="r" b="b"/>
            <a:pathLst>
              <a:path w="4213489" h="2750259">
                <a:moveTo>
                  <a:pt x="0" y="2750259"/>
                </a:moveTo>
                <a:lnTo>
                  <a:pt x="4213489" y="2750259"/>
                </a:lnTo>
                <a:lnTo>
                  <a:pt x="4213489" y="0"/>
                </a:lnTo>
                <a:lnTo>
                  <a:pt x="0" y="0"/>
                </a:lnTo>
                <a:lnTo>
                  <a:pt x="0" y="275025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1731957" y="3383088"/>
            <a:ext cx="2760657" cy="4114800"/>
          </a:xfrm>
          <a:custGeom>
            <a:avLst/>
            <a:gdLst/>
            <a:ahLst/>
            <a:cxnLst/>
            <a:rect l="l" t="t" r="r" b="b"/>
            <a:pathLst>
              <a:path w="2760657" h="4114800">
                <a:moveTo>
                  <a:pt x="0" y="0"/>
                </a:moveTo>
                <a:lnTo>
                  <a:pt x="2760657" y="0"/>
                </a:lnTo>
                <a:lnTo>
                  <a:pt x="27606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724892" y="304739"/>
            <a:ext cx="8297704" cy="3007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9501" b="1" spc="-418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Tujuan </a:t>
            </a:r>
            <a:r>
              <a:rPr lang="en-US" sz="9501" b="1" spc="-418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Manajemen</a:t>
            </a:r>
            <a:r>
              <a:rPr lang="en-US" sz="9501" b="1" spc="-418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9501" b="1" spc="-418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Proyek</a:t>
            </a:r>
            <a:r>
              <a:rPr lang="en-US" sz="9501" b="1" spc="-418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: </a:t>
            </a:r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73B95543-0758-8365-4591-46CC77BBE3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2706925"/>
              </p:ext>
            </p:extLst>
          </p:nvPr>
        </p:nvGraphicFramePr>
        <p:xfrm>
          <a:off x="6112042" y="1376488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173320"/>
            <a:ext cx="16230600" cy="10773410"/>
            <a:chOff x="0" y="0"/>
            <a:chExt cx="4274726" cy="28374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837441"/>
            </a:xfrm>
            <a:custGeom>
              <a:avLst/>
              <a:gdLst/>
              <a:ahLst/>
              <a:cxnLst/>
              <a:rect l="l" t="t" r="r" b="b"/>
              <a:pathLst>
                <a:path w="4274726" h="2837441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813114"/>
                  </a:lnTo>
                  <a:cubicBezTo>
                    <a:pt x="4274726" y="2826550"/>
                    <a:pt x="4263834" y="2837441"/>
                    <a:pt x="4250399" y="2837441"/>
                  </a:cubicBezTo>
                  <a:lnTo>
                    <a:pt x="24327" y="2837441"/>
                  </a:lnTo>
                  <a:cubicBezTo>
                    <a:pt x="10891" y="2837441"/>
                    <a:pt x="0" y="2826550"/>
                    <a:pt x="0" y="281311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DD56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875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-6768597" y="2628077"/>
            <a:ext cx="11422547" cy="5030847"/>
            <a:chOff x="0" y="0"/>
            <a:chExt cx="3008407" cy="13249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08407" cy="1324997"/>
            </a:xfrm>
            <a:custGeom>
              <a:avLst/>
              <a:gdLst/>
              <a:ahLst/>
              <a:cxnLst/>
              <a:rect l="l" t="t" r="r" b="b"/>
              <a:pathLst>
                <a:path w="3008407" h="1324997">
                  <a:moveTo>
                    <a:pt x="0" y="0"/>
                  </a:moveTo>
                  <a:lnTo>
                    <a:pt x="3008407" y="0"/>
                  </a:lnTo>
                  <a:lnTo>
                    <a:pt x="3008407" y="1324997"/>
                  </a:lnTo>
                  <a:lnTo>
                    <a:pt x="0" y="1324997"/>
                  </a:lnTo>
                  <a:close/>
                </a:path>
              </a:pathLst>
            </a:custGeom>
            <a:solidFill>
              <a:srgbClr val="FDD56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008407" cy="1363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445106" y="3383088"/>
            <a:ext cx="673331" cy="4114800"/>
          </a:xfrm>
          <a:custGeom>
            <a:avLst/>
            <a:gdLst/>
            <a:ahLst/>
            <a:cxnLst/>
            <a:rect l="l" t="t" r="r" b="b"/>
            <a:pathLst>
              <a:path w="673331" h="4114800">
                <a:moveTo>
                  <a:pt x="0" y="0"/>
                </a:moveTo>
                <a:lnTo>
                  <a:pt x="673331" y="0"/>
                </a:lnTo>
                <a:lnTo>
                  <a:pt x="6733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894180" y="8313555"/>
            <a:ext cx="4213489" cy="2750259"/>
          </a:xfrm>
          <a:custGeom>
            <a:avLst/>
            <a:gdLst/>
            <a:ahLst/>
            <a:cxnLst/>
            <a:rect l="l" t="t" r="r" b="b"/>
            <a:pathLst>
              <a:path w="4213489" h="2750259">
                <a:moveTo>
                  <a:pt x="0" y="0"/>
                </a:moveTo>
                <a:lnTo>
                  <a:pt x="4213489" y="0"/>
                </a:lnTo>
                <a:lnTo>
                  <a:pt x="4213489" y="2750259"/>
                </a:lnTo>
                <a:lnTo>
                  <a:pt x="0" y="2750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V="1">
            <a:off x="14894180" y="-767346"/>
            <a:ext cx="4213489" cy="2750259"/>
          </a:xfrm>
          <a:custGeom>
            <a:avLst/>
            <a:gdLst/>
            <a:ahLst/>
            <a:cxnLst/>
            <a:rect l="l" t="t" r="r" b="b"/>
            <a:pathLst>
              <a:path w="4213489" h="2750259">
                <a:moveTo>
                  <a:pt x="0" y="2750259"/>
                </a:moveTo>
                <a:lnTo>
                  <a:pt x="4213489" y="2750259"/>
                </a:lnTo>
                <a:lnTo>
                  <a:pt x="4213489" y="0"/>
                </a:lnTo>
                <a:lnTo>
                  <a:pt x="0" y="0"/>
                </a:lnTo>
                <a:lnTo>
                  <a:pt x="0" y="275025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1731957" y="3383088"/>
            <a:ext cx="2760657" cy="4114800"/>
          </a:xfrm>
          <a:custGeom>
            <a:avLst/>
            <a:gdLst/>
            <a:ahLst/>
            <a:cxnLst/>
            <a:rect l="l" t="t" r="r" b="b"/>
            <a:pathLst>
              <a:path w="2760657" h="4114800">
                <a:moveTo>
                  <a:pt x="0" y="0"/>
                </a:moveTo>
                <a:lnTo>
                  <a:pt x="2760657" y="0"/>
                </a:lnTo>
                <a:lnTo>
                  <a:pt x="27606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438400" y="1288768"/>
            <a:ext cx="8297704" cy="203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9501" b="1" spc="-418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Triple Constraint :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98892" y="3785421"/>
            <a:ext cx="11022474" cy="1607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71"/>
              </a:lnSpc>
            </a:pPr>
            <a:r>
              <a:rPr lang="en-ID" sz="4400" dirty="0" err="1">
                <a:latin typeface="DM Sans" pitchFamily="2" charset="0"/>
              </a:rPr>
              <a:t>Manajer</a:t>
            </a:r>
            <a:r>
              <a:rPr lang="en-ID" sz="4400" dirty="0">
                <a:latin typeface="DM Sans" pitchFamily="2" charset="0"/>
              </a:rPr>
              <a:t> </a:t>
            </a:r>
            <a:r>
              <a:rPr lang="en-ID" sz="4400" dirty="0" err="1">
                <a:latin typeface="DM Sans" pitchFamily="2" charset="0"/>
              </a:rPr>
              <a:t>proyek</a:t>
            </a:r>
            <a:r>
              <a:rPr lang="en-ID" sz="4400" dirty="0">
                <a:latin typeface="DM Sans" pitchFamily="2" charset="0"/>
              </a:rPr>
              <a:t> </a:t>
            </a:r>
            <a:r>
              <a:rPr lang="en-ID" sz="4400" dirty="0" err="1">
                <a:latin typeface="DM Sans" pitchFamily="2" charset="0"/>
              </a:rPr>
              <a:t>harus</a:t>
            </a:r>
            <a:r>
              <a:rPr lang="en-ID" sz="4400" dirty="0">
                <a:latin typeface="DM Sans" pitchFamily="2" charset="0"/>
              </a:rPr>
              <a:t> </a:t>
            </a:r>
            <a:r>
              <a:rPr lang="en-ID" sz="4400" dirty="0" err="1">
                <a:latin typeface="DM Sans" pitchFamily="2" charset="0"/>
              </a:rPr>
              <a:t>mengelola</a:t>
            </a:r>
            <a:r>
              <a:rPr lang="en-ID" sz="4400" dirty="0">
                <a:latin typeface="DM Sans" pitchFamily="2" charset="0"/>
              </a:rPr>
              <a:t> "Triple Constraints" </a:t>
            </a:r>
            <a:r>
              <a:rPr lang="en-ID" sz="4400" dirty="0" err="1">
                <a:latin typeface="DM Sans" pitchFamily="2" charset="0"/>
              </a:rPr>
              <a:t>untuk</a:t>
            </a:r>
            <a:r>
              <a:rPr lang="en-ID" sz="4400" dirty="0">
                <a:latin typeface="DM Sans" pitchFamily="2" charset="0"/>
              </a:rPr>
              <a:t> </a:t>
            </a:r>
            <a:r>
              <a:rPr lang="en-ID" sz="4400" dirty="0" err="1">
                <a:latin typeface="DM Sans" pitchFamily="2" charset="0"/>
              </a:rPr>
              <a:t>menjaga</a:t>
            </a:r>
            <a:r>
              <a:rPr lang="en-ID" sz="4400" dirty="0">
                <a:latin typeface="DM Sans" pitchFamily="2" charset="0"/>
              </a:rPr>
              <a:t> </a:t>
            </a:r>
            <a:r>
              <a:rPr lang="en-ID" sz="4400" dirty="0" err="1">
                <a:latin typeface="DM Sans" pitchFamily="2" charset="0"/>
              </a:rPr>
              <a:t>keseimbangan</a:t>
            </a:r>
            <a:r>
              <a:rPr lang="en-ID" sz="4400" dirty="0">
                <a:latin typeface="DM Sans" pitchFamily="2" charset="0"/>
              </a:rPr>
              <a:t> </a:t>
            </a:r>
            <a:r>
              <a:rPr lang="en-ID" sz="4400" dirty="0" err="1">
                <a:latin typeface="DM Sans" pitchFamily="2" charset="0"/>
              </a:rPr>
              <a:t>proyek</a:t>
            </a:r>
            <a:r>
              <a:rPr lang="en-ID" sz="4400" dirty="0">
                <a:latin typeface="DM Sans" pitchFamily="2" charset="0"/>
              </a:rPr>
              <a:t>. </a:t>
            </a:r>
            <a:r>
              <a:rPr lang="en-ID" sz="4400" dirty="0" err="1">
                <a:latin typeface="DM Sans" pitchFamily="2" charset="0"/>
              </a:rPr>
              <a:t>Ketiga</a:t>
            </a:r>
            <a:r>
              <a:rPr lang="en-ID" sz="4400" dirty="0">
                <a:latin typeface="DM Sans" pitchFamily="2" charset="0"/>
              </a:rPr>
              <a:t> </a:t>
            </a:r>
            <a:r>
              <a:rPr lang="en-ID" sz="4400" dirty="0" err="1">
                <a:latin typeface="DM Sans" pitchFamily="2" charset="0"/>
              </a:rPr>
              <a:t>batasan</a:t>
            </a:r>
            <a:r>
              <a:rPr lang="en-ID" sz="4400" dirty="0">
                <a:latin typeface="DM Sans" pitchFamily="2" charset="0"/>
              </a:rPr>
              <a:t> </a:t>
            </a:r>
            <a:r>
              <a:rPr lang="en-ID" sz="4400" dirty="0" err="1">
                <a:latin typeface="DM Sans" pitchFamily="2" charset="0"/>
              </a:rPr>
              <a:t>tersebut</a:t>
            </a:r>
            <a:r>
              <a:rPr lang="en-ID" sz="4400" dirty="0">
                <a:latin typeface="DM Sans" pitchFamily="2" charset="0"/>
              </a:rPr>
              <a:t> </a:t>
            </a:r>
            <a:r>
              <a:rPr lang="en-ID" sz="4400" dirty="0" err="1">
                <a:latin typeface="DM Sans" pitchFamily="2" charset="0"/>
              </a:rPr>
              <a:t>adalah</a:t>
            </a:r>
            <a:r>
              <a:rPr lang="en-ID" sz="4400" dirty="0">
                <a:latin typeface="DM Sans" pitchFamily="2" charset="0"/>
              </a:rPr>
              <a:t>..</a:t>
            </a:r>
            <a:endParaRPr lang="en-US" sz="4400" spc="-98" dirty="0">
              <a:solidFill>
                <a:srgbClr val="000000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73768F22-2822-9B62-38D3-9501797F57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4341102"/>
              </p:ext>
            </p:extLst>
          </p:nvPr>
        </p:nvGraphicFramePr>
        <p:xfrm>
          <a:off x="8261069" y="5465704"/>
          <a:ext cx="7696200" cy="4973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41FC7-03E9-97B9-44C9-6985FCC57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7E84AC7-F5D5-C1AE-6A81-E6DB1D834E26}"/>
              </a:ext>
            </a:extLst>
          </p:cNvPr>
          <p:cNvGrpSpPr/>
          <p:nvPr/>
        </p:nvGrpSpPr>
        <p:grpSpPr>
          <a:xfrm>
            <a:off x="1028700" y="-173320"/>
            <a:ext cx="16230600" cy="10773410"/>
            <a:chOff x="0" y="0"/>
            <a:chExt cx="4274726" cy="283744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3BFFC26-E2F1-5121-B422-A77A71770EE4}"/>
                </a:ext>
              </a:extLst>
            </p:cNvPr>
            <p:cNvSpPr/>
            <p:nvPr/>
          </p:nvSpPr>
          <p:spPr>
            <a:xfrm>
              <a:off x="0" y="0"/>
              <a:ext cx="4274726" cy="2837441"/>
            </a:xfrm>
            <a:custGeom>
              <a:avLst/>
              <a:gdLst/>
              <a:ahLst/>
              <a:cxnLst/>
              <a:rect l="l" t="t" r="r" b="b"/>
              <a:pathLst>
                <a:path w="4274726" h="2837441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813114"/>
                  </a:lnTo>
                  <a:cubicBezTo>
                    <a:pt x="4274726" y="2826550"/>
                    <a:pt x="4263834" y="2837441"/>
                    <a:pt x="4250399" y="2837441"/>
                  </a:cubicBezTo>
                  <a:lnTo>
                    <a:pt x="24327" y="2837441"/>
                  </a:lnTo>
                  <a:cubicBezTo>
                    <a:pt x="10891" y="2837441"/>
                    <a:pt x="0" y="2826550"/>
                    <a:pt x="0" y="281311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DD56F"/>
              </a:solidFill>
              <a:prstDash val="solid"/>
              <a:round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B913EF8-ECCF-BF5A-E2D7-363FB86BCADA}"/>
                </a:ext>
              </a:extLst>
            </p:cNvPr>
            <p:cNvSpPr txBox="1"/>
            <p:nvPr/>
          </p:nvSpPr>
          <p:spPr>
            <a:xfrm>
              <a:off x="0" y="-38100"/>
              <a:ext cx="4274726" cy="2875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44FF119-F4C6-CD8E-82ED-4880D864EFBB}"/>
              </a:ext>
            </a:extLst>
          </p:cNvPr>
          <p:cNvGrpSpPr/>
          <p:nvPr/>
        </p:nvGrpSpPr>
        <p:grpSpPr>
          <a:xfrm rot="-5400000">
            <a:off x="-6768597" y="2628077"/>
            <a:ext cx="11422547" cy="5030847"/>
            <a:chOff x="0" y="0"/>
            <a:chExt cx="3008407" cy="132499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2186580-4FC7-CBA9-8F1A-3D50CD119FC8}"/>
                </a:ext>
              </a:extLst>
            </p:cNvPr>
            <p:cNvSpPr/>
            <p:nvPr/>
          </p:nvSpPr>
          <p:spPr>
            <a:xfrm>
              <a:off x="0" y="0"/>
              <a:ext cx="3008407" cy="1324997"/>
            </a:xfrm>
            <a:custGeom>
              <a:avLst/>
              <a:gdLst/>
              <a:ahLst/>
              <a:cxnLst/>
              <a:rect l="l" t="t" r="r" b="b"/>
              <a:pathLst>
                <a:path w="3008407" h="1324997">
                  <a:moveTo>
                    <a:pt x="0" y="0"/>
                  </a:moveTo>
                  <a:lnTo>
                    <a:pt x="3008407" y="0"/>
                  </a:lnTo>
                  <a:lnTo>
                    <a:pt x="3008407" y="1324997"/>
                  </a:lnTo>
                  <a:lnTo>
                    <a:pt x="0" y="1324997"/>
                  </a:lnTo>
                  <a:close/>
                </a:path>
              </a:pathLst>
            </a:custGeom>
            <a:solidFill>
              <a:srgbClr val="C8DDFD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C7449B7-731E-2C4A-198C-69BB435567F7}"/>
                </a:ext>
              </a:extLst>
            </p:cNvPr>
            <p:cNvSpPr txBox="1"/>
            <p:nvPr/>
          </p:nvSpPr>
          <p:spPr>
            <a:xfrm>
              <a:off x="0" y="-38100"/>
              <a:ext cx="3008407" cy="1363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9FAFCAF8-3831-BE70-AF6D-5590DD1C7823}"/>
              </a:ext>
            </a:extLst>
          </p:cNvPr>
          <p:cNvSpPr/>
          <p:nvPr/>
        </p:nvSpPr>
        <p:spPr>
          <a:xfrm>
            <a:off x="17445106" y="3383088"/>
            <a:ext cx="673331" cy="4114800"/>
          </a:xfrm>
          <a:custGeom>
            <a:avLst/>
            <a:gdLst/>
            <a:ahLst/>
            <a:cxnLst/>
            <a:rect l="l" t="t" r="r" b="b"/>
            <a:pathLst>
              <a:path w="673331" h="4114800">
                <a:moveTo>
                  <a:pt x="0" y="0"/>
                </a:moveTo>
                <a:lnTo>
                  <a:pt x="673331" y="0"/>
                </a:lnTo>
                <a:lnTo>
                  <a:pt x="6733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94C83FE-C7DD-AEE2-CF6D-ADFA49AE82DA}"/>
              </a:ext>
            </a:extLst>
          </p:cNvPr>
          <p:cNvSpPr/>
          <p:nvPr/>
        </p:nvSpPr>
        <p:spPr>
          <a:xfrm>
            <a:off x="14894180" y="8313555"/>
            <a:ext cx="4213489" cy="2750259"/>
          </a:xfrm>
          <a:custGeom>
            <a:avLst/>
            <a:gdLst/>
            <a:ahLst/>
            <a:cxnLst/>
            <a:rect l="l" t="t" r="r" b="b"/>
            <a:pathLst>
              <a:path w="4213489" h="2750259">
                <a:moveTo>
                  <a:pt x="0" y="0"/>
                </a:moveTo>
                <a:lnTo>
                  <a:pt x="4213489" y="0"/>
                </a:lnTo>
                <a:lnTo>
                  <a:pt x="4213489" y="2750259"/>
                </a:lnTo>
                <a:lnTo>
                  <a:pt x="0" y="2750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CA4F745-CA51-7B2D-5ACD-B68BC40118C2}"/>
              </a:ext>
            </a:extLst>
          </p:cNvPr>
          <p:cNvSpPr/>
          <p:nvPr/>
        </p:nvSpPr>
        <p:spPr>
          <a:xfrm flipV="1">
            <a:off x="14894180" y="-767346"/>
            <a:ext cx="4213489" cy="2750259"/>
          </a:xfrm>
          <a:custGeom>
            <a:avLst/>
            <a:gdLst/>
            <a:ahLst/>
            <a:cxnLst/>
            <a:rect l="l" t="t" r="r" b="b"/>
            <a:pathLst>
              <a:path w="4213489" h="2750259">
                <a:moveTo>
                  <a:pt x="0" y="2750259"/>
                </a:moveTo>
                <a:lnTo>
                  <a:pt x="4213489" y="2750259"/>
                </a:lnTo>
                <a:lnTo>
                  <a:pt x="4213489" y="0"/>
                </a:lnTo>
                <a:lnTo>
                  <a:pt x="0" y="0"/>
                </a:lnTo>
                <a:lnTo>
                  <a:pt x="0" y="275025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9E2E3D8-A4D1-3820-E334-E7924EFE37CD}"/>
              </a:ext>
            </a:extLst>
          </p:cNvPr>
          <p:cNvSpPr txBox="1"/>
          <p:nvPr/>
        </p:nvSpPr>
        <p:spPr>
          <a:xfrm>
            <a:off x="4995148" y="1679316"/>
            <a:ext cx="8297704" cy="203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9501" b="1" spc="-418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Analisis</a:t>
            </a:r>
            <a:r>
              <a:rPr lang="en-US" sz="9501" b="1" spc="-418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Studi Kasus : 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A48CC14-9198-A253-1B19-F2776A1EB043}"/>
              </a:ext>
            </a:extLst>
          </p:cNvPr>
          <p:cNvSpPr txBox="1"/>
          <p:nvPr/>
        </p:nvSpPr>
        <p:spPr>
          <a:xfrm>
            <a:off x="3789357" y="5841693"/>
            <a:ext cx="12140637" cy="1552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71"/>
              </a:lnSpc>
            </a:pP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2.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Sebuah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Perusahaan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perangkat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lunak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melakukan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pemeliharaan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server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setiap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hari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Sabtu.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Apakah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aktifitas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ini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dikategorikan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sebagai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proyek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? Dan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jelaskan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alas an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anda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8421832B-7E03-4519-F4BD-C20E68ED8799}"/>
              </a:ext>
            </a:extLst>
          </p:cNvPr>
          <p:cNvSpPr/>
          <p:nvPr/>
        </p:nvSpPr>
        <p:spPr>
          <a:xfrm>
            <a:off x="-1731957" y="3383088"/>
            <a:ext cx="2760657" cy="4114800"/>
          </a:xfrm>
          <a:custGeom>
            <a:avLst/>
            <a:gdLst/>
            <a:ahLst/>
            <a:cxnLst/>
            <a:rect l="l" t="t" r="r" b="b"/>
            <a:pathLst>
              <a:path w="2760657" h="4114800">
                <a:moveTo>
                  <a:pt x="0" y="0"/>
                </a:moveTo>
                <a:lnTo>
                  <a:pt x="2760657" y="0"/>
                </a:lnTo>
                <a:lnTo>
                  <a:pt x="27606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C5E3B507-69FA-C088-7AA4-65C3074F5B9B}"/>
              </a:ext>
            </a:extLst>
          </p:cNvPr>
          <p:cNvSpPr txBox="1"/>
          <p:nvPr/>
        </p:nvSpPr>
        <p:spPr>
          <a:xfrm>
            <a:off x="2881523" y="4082282"/>
            <a:ext cx="12140637" cy="10266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71"/>
              </a:lnSpc>
            </a:pP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1.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Berdasarkan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materi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konsep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proyek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dan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manajemen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proyek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apa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karakteristik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utama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sebuah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08" spc="-98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proyek</a:t>
            </a:r>
            <a:r>
              <a:rPr lang="en-US" sz="2908" spc="-98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? </a:t>
            </a:r>
          </a:p>
        </p:txBody>
      </p:sp>
    </p:spTree>
    <p:extLst>
      <p:ext uri="{BB962C8B-B14F-4D97-AF65-F5344CB8AC3E}">
        <p14:creationId xmlns:p14="http://schemas.microsoft.com/office/powerpoint/2010/main" val="961528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243205"/>
            <a:ext cx="16230600" cy="10773410"/>
            <a:chOff x="0" y="0"/>
            <a:chExt cx="4274726" cy="28374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837441"/>
            </a:xfrm>
            <a:custGeom>
              <a:avLst/>
              <a:gdLst/>
              <a:ahLst/>
              <a:cxnLst/>
              <a:rect l="l" t="t" r="r" b="b"/>
              <a:pathLst>
                <a:path w="4274726" h="2837441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813114"/>
                  </a:lnTo>
                  <a:cubicBezTo>
                    <a:pt x="4274726" y="2826550"/>
                    <a:pt x="4263834" y="2837441"/>
                    <a:pt x="4250399" y="2837441"/>
                  </a:cubicBezTo>
                  <a:lnTo>
                    <a:pt x="24327" y="2837441"/>
                  </a:lnTo>
                  <a:cubicBezTo>
                    <a:pt x="10891" y="2837441"/>
                    <a:pt x="0" y="2826550"/>
                    <a:pt x="0" y="281311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DD56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875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-6768597" y="2628077"/>
            <a:ext cx="11422547" cy="5030847"/>
            <a:chOff x="0" y="0"/>
            <a:chExt cx="3008407" cy="13249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08407" cy="1324997"/>
            </a:xfrm>
            <a:custGeom>
              <a:avLst/>
              <a:gdLst/>
              <a:ahLst/>
              <a:cxnLst/>
              <a:rect l="l" t="t" r="r" b="b"/>
              <a:pathLst>
                <a:path w="3008407" h="1324997">
                  <a:moveTo>
                    <a:pt x="0" y="0"/>
                  </a:moveTo>
                  <a:lnTo>
                    <a:pt x="3008407" y="0"/>
                  </a:lnTo>
                  <a:lnTo>
                    <a:pt x="3008407" y="1324997"/>
                  </a:lnTo>
                  <a:lnTo>
                    <a:pt x="0" y="1324997"/>
                  </a:lnTo>
                  <a:close/>
                </a:path>
              </a:pathLst>
            </a:custGeom>
            <a:solidFill>
              <a:srgbClr val="FDD56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008407" cy="1363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5400000">
            <a:off x="8471887" y="6200247"/>
            <a:ext cx="673331" cy="4114800"/>
          </a:xfrm>
          <a:custGeom>
            <a:avLst/>
            <a:gdLst/>
            <a:ahLst/>
            <a:cxnLst/>
            <a:rect l="l" t="t" r="r" b="b"/>
            <a:pathLst>
              <a:path w="673331" h="4114800">
                <a:moveTo>
                  <a:pt x="0" y="0"/>
                </a:moveTo>
                <a:lnTo>
                  <a:pt x="673331" y="0"/>
                </a:lnTo>
                <a:lnTo>
                  <a:pt x="6733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731957" y="3383088"/>
            <a:ext cx="2760657" cy="4114800"/>
          </a:xfrm>
          <a:custGeom>
            <a:avLst/>
            <a:gdLst/>
            <a:ahLst/>
            <a:cxnLst/>
            <a:rect l="l" t="t" r="r" b="b"/>
            <a:pathLst>
              <a:path w="2760657" h="4114800">
                <a:moveTo>
                  <a:pt x="0" y="0"/>
                </a:moveTo>
                <a:lnTo>
                  <a:pt x="2760657" y="0"/>
                </a:lnTo>
                <a:lnTo>
                  <a:pt x="27606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754150" y="3680571"/>
            <a:ext cx="12779699" cy="2179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80"/>
              </a:lnSpc>
            </a:pPr>
            <a:r>
              <a:rPr lang="en-US" sz="15350" b="1" spc="-67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Thank You</a:t>
            </a:r>
          </a:p>
        </p:txBody>
      </p:sp>
      <p:sp>
        <p:nvSpPr>
          <p:cNvPr id="12" name="Freeform 12"/>
          <p:cNvSpPr/>
          <p:nvPr/>
        </p:nvSpPr>
        <p:spPr>
          <a:xfrm flipH="1" flipV="1">
            <a:off x="17727341" y="3383088"/>
            <a:ext cx="2760657" cy="4114800"/>
          </a:xfrm>
          <a:custGeom>
            <a:avLst/>
            <a:gdLst/>
            <a:ahLst/>
            <a:cxnLst/>
            <a:rect l="l" t="t" r="r" b="b"/>
            <a:pathLst>
              <a:path w="2760657" h="4114800">
                <a:moveTo>
                  <a:pt x="276065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760657" y="0"/>
                </a:lnTo>
                <a:lnTo>
                  <a:pt x="2760657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470</Words>
  <Application>Microsoft Office PowerPoint</Application>
  <PresentationFormat>Custom</PresentationFormat>
  <Paragraphs>50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Agrandir Bold</vt:lpstr>
      <vt:lpstr>Calibri</vt:lpstr>
      <vt:lpstr>Arial</vt:lpstr>
      <vt:lpstr>DM Sans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Yellow Simple Modern Research Project Presentation</dc:title>
  <cp:lastModifiedBy>Alvionitha Sari Agstriningtyas</cp:lastModifiedBy>
  <cp:revision>4</cp:revision>
  <dcterms:created xsi:type="dcterms:W3CDTF">2006-08-16T00:00:00Z</dcterms:created>
  <dcterms:modified xsi:type="dcterms:W3CDTF">2026-02-15T05:54:55Z</dcterms:modified>
  <dc:identifier>DAHBXBw95y8</dc:identifier>
</cp:coreProperties>
</file>